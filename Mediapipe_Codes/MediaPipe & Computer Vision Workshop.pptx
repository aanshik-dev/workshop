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Relationship Id="rId8" Type="http://schemas.openxmlformats.org/officeDocument/2006/relationships/image" Target="../media/image27.jpg"/><Relationship Id="rId9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image" Target="../media/image4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65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99.png"/><Relationship Id="rId4" Type="http://schemas.openxmlformats.org/officeDocument/2006/relationships/image" Target="../media/image103.jpg"/><Relationship Id="rId5" Type="http://schemas.openxmlformats.org/officeDocument/2006/relationships/image" Target="../media/image10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109.png"/><Relationship Id="rId4" Type="http://schemas.openxmlformats.org/officeDocument/2006/relationships/image" Target="../media/image97.png"/><Relationship Id="rId5" Type="http://schemas.openxmlformats.org/officeDocument/2006/relationships/image" Target="../media/image110.png"/><Relationship Id="rId6" Type="http://schemas.openxmlformats.org/officeDocument/2006/relationships/image" Target="../media/image99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05.png"/><Relationship Id="rId4" Type="http://schemas.openxmlformats.org/officeDocument/2006/relationships/image" Target="../media/image1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9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99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9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09.png"/><Relationship Id="rId4" Type="http://schemas.openxmlformats.org/officeDocument/2006/relationships/image" Target="../media/image71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17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9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Relationship Id="rId3" Type="http://schemas.openxmlformats.org/officeDocument/2006/relationships/image" Target="../media/image99.png"/><Relationship Id="rId4" Type="http://schemas.openxmlformats.org/officeDocument/2006/relationships/image" Target="../media/image130.png"/><Relationship Id="rId5" Type="http://schemas.openxmlformats.org/officeDocument/2006/relationships/image" Target="../media/image107.png"/><Relationship Id="rId6" Type="http://schemas.openxmlformats.org/officeDocument/2006/relationships/image" Target="../media/image1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Relationship Id="rId3" Type="http://schemas.openxmlformats.org/officeDocument/2006/relationships/image" Target="../media/image99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Relationship Id="rId9" Type="http://schemas.openxmlformats.org/officeDocument/2006/relationships/image" Target="../media/image143.jp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Relationship Id="rId8" Type="http://schemas.openxmlformats.org/officeDocument/2006/relationships/image" Target="../media/image152.png"/><Relationship Id="rId9" Type="http://schemas.openxmlformats.org/officeDocument/2006/relationships/image" Target="../media/image153.png"/><Relationship Id="rId10" Type="http://schemas.openxmlformats.org/officeDocument/2006/relationships/image" Target="../media/image154.png"/><Relationship Id="rId11" Type="http://schemas.openxmlformats.org/officeDocument/2006/relationships/image" Target="../media/image155.png"/><Relationship Id="rId12" Type="http://schemas.openxmlformats.org/officeDocument/2006/relationships/image" Target="../media/image156.png"/><Relationship Id="rId13" Type="http://schemas.openxmlformats.org/officeDocument/2006/relationships/image" Target="../media/image157.png"/><Relationship Id="rId14" Type="http://schemas.openxmlformats.org/officeDocument/2006/relationships/image" Target="../media/image158.png"/><Relationship Id="rId15" Type="http://schemas.openxmlformats.org/officeDocument/2006/relationships/image" Target="../media/image15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33" y="971550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8219" y="876299"/>
            <a:ext cx="20287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DAY 1 - SESSION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1323974"/>
            <a:ext cx="290505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0ABFC"/>
                </a:solidFill>
                <a:latin typeface="Inter"/>
                <a:rFonts ascii="Inter" hAnsi="Inter" eastAsia="Inter" cs="Inter"/>
              </a:rPr>
              <a:t>TECHNOCRATS PRESENTS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790700"/>
            <a:ext cx="7676958" cy="21335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810"/>
              </a:lnSpc>
              <a:spcBef>
                <a:spcPts val="0"/>
              </a:spcBef>
              <a:spcAft>
                <a:spcPts val="2080"/>
              </a:spcAft>
            </a:pPr>
            <a:r>
              <a:rPr sz="4066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 MEDIAPIPE</a:t>
            </a:r>
            <a:r>
              <a:rPr sz="1104"/>
              <a:t>
</a:t>
            </a:r>
            <a:r>
              <a:rPr sz="4066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 &amp; COMPUTER</a:t>
            </a:r>
            <a:r>
              <a:rPr sz="1104"/>
              <a:t>
</a:t>
            </a:r>
            <a:r>
              <a:rPr sz="4066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 </a:t>
            </a:r>
            <a:r>
              <a:rPr sz="3946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VISION</a:t>
            </a:r>
            <a:r>
              <a:rPr sz="4066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4238624"/>
            <a:ext cx="767695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F0ABFC"/>
                </a:solidFill>
                <a:latin typeface="Inter"/>
                <a:rFonts ascii="Inter" hAnsi="Inter" eastAsia="Inter" cs="Inter"/>
              </a:rPr>
              <a:t>🖐️ HAND TRACKING WITH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33" y="4943475"/>
            <a:ext cx="2438339" cy="952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5397313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1525" y="5334000"/>
            <a:ext cx="23335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Ansik Singh Tomar (Aanshik)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389" y="5334000"/>
            <a:ext cx="571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835" y="5334000"/>
            <a:ext cx="27050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879F9"/>
                </a:solidFill>
                <a:latin typeface="Inter"/>
                <a:rFonts ascii="Inter" hAnsi="Inter" eastAsia="Inter" cs="Inter"/>
              </a:rPr>
              <a:t>COORDINATOR - TECHNOCRATS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773686"/>
            <a:ext cx="171445" cy="149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476" y="5734050"/>
            <a:ext cx="7905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Venue: LG1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7328" y="5734050"/>
            <a:ext cx="476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|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019249" y="5773686"/>
            <a:ext cx="171445" cy="1493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04992" y="5734050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Time: 09:00 P.m.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4681" y="1343025"/>
            <a:ext cx="2800279" cy="1009649"/>
          </a:xfrm>
          <a:prstGeom prst="roundRect">
            <a:avLst>
              <a:gd name="adj" fmla="val 150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24701" y="1618278"/>
            <a:ext cx="285742" cy="1924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24741" y="1581149"/>
            <a:ext cx="838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701" y="1962149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Hand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24681" y="2543175"/>
            <a:ext cx="2800279" cy="1009649"/>
          </a:xfrm>
          <a:prstGeom prst="roundRect">
            <a:avLst>
              <a:gd name="adj" fmla="val 150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24701" y="2780522"/>
            <a:ext cx="285742" cy="2682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24741" y="2781300"/>
            <a:ext cx="9810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AI-Powered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701" y="3162299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21 Landmark 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24681" y="3743325"/>
            <a:ext cx="2800279" cy="1009649"/>
          </a:xfrm>
          <a:prstGeom prst="roundRect">
            <a:avLst>
              <a:gd name="adj" fmla="val 150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24701" y="3999625"/>
            <a:ext cx="285742" cy="23034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24741" y="3981449"/>
            <a:ext cx="7715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701" y="4362450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Gesture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4681" y="4943475"/>
            <a:ext cx="134299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4681" y="5362575"/>
            <a:ext cx="13429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Landmarks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1970" y="4943475"/>
            <a:ext cx="134299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1970" y="5362575"/>
            <a:ext cx="13429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FPS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93632"/>
            <a:ext cx="342891" cy="212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5528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SESSION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1266824"/>
            <a:ext cx="5124321" cy="647699"/>
          </a:xfrm>
          <a:prstGeom prst="rect">
            <a:avLst/>
          </a:prstGeom>
          <a:solidFill>
            <a:srgbClr val="22D3E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15246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1494453"/>
            <a:ext cx="285742" cy="1924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466" y="1438274"/>
            <a:ext cx="266693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What is Computer 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33" y="2143125"/>
            <a:ext cx="5124321" cy="647699"/>
          </a:xfrm>
          <a:prstGeom prst="rect">
            <a:avLst/>
          </a:prstGeom>
          <a:solidFill>
            <a:srgbClr val="E879F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08924" y="2400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332847"/>
            <a:ext cx="285742" cy="2682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466" y="2314575"/>
            <a:ext cx="200972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What is MediaPipe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33" y="3019424"/>
            <a:ext cx="5124321" cy="647699"/>
          </a:xfrm>
          <a:prstGeom prst="rect">
            <a:avLst/>
          </a:prstGeom>
          <a:solidFill>
            <a:srgbClr val="FB923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08924" y="32772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3236847"/>
            <a:ext cx="285742" cy="2128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33466" y="3190874"/>
            <a:ext cx="216212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Installing MediaPipe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33" y="3895724"/>
            <a:ext cx="5124321" cy="647699"/>
          </a:xfrm>
          <a:prstGeom prst="rect">
            <a:avLst/>
          </a:prstGeom>
          <a:solidFill>
            <a:srgbClr val="22D3E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408924" y="41535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4097110"/>
            <a:ext cx="285742" cy="244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33466" y="4067174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How MediaPipe Works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639" y="1266824"/>
            <a:ext cx="5124321" cy="647699"/>
          </a:xfrm>
          <a:prstGeom prst="rect">
            <a:avLst/>
          </a:prstGeom>
          <a:solidFill>
            <a:srgbClr val="E879F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142830" y="15246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42862" y="1419225"/>
            <a:ext cx="258487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67373" y="1438274"/>
            <a:ext cx="30288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Hand Landmarks (21 Points)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639" y="2143125"/>
            <a:ext cx="5124321" cy="647699"/>
          </a:xfrm>
          <a:prstGeom prst="rect">
            <a:avLst/>
          </a:prstGeom>
          <a:solidFill>
            <a:srgbClr val="FB923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6142830" y="2400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29234" y="2388247"/>
            <a:ext cx="285742" cy="15745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67373" y="2314575"/>
            <a:ext cx="296220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Basic Hand Detection 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639" y="3019424"/>
            <a:ext cx="5124321" cy="647699"/>
          </a:xfrm>
          <a:prstGeom prst="rect">
            <a:avLst/>
          </a:prstGeom>
          <a:solidFill>
            <a:srgbClr val="22D3E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142830" y="32772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29234" y="3232473"/>
            <a:ext cx="285742" cy="2216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67373" y="3190874"/>
            <a:ext cx="23430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Important Parameters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639" y="3895724"/>
            <a:ext cx="5124321" cy="647699"/>
          </a:xfrm>
          <a:prstGeom prst="rect">
            <a:avLst/>
          </a:prstGeom>
          <a:solidFill>
            <a:srgbClr val="E879F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142830" y="41535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29234" y="4097110"/>
            <a:ext cx="285742" cy="2449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67373" y="4067174"/>
            <a:ext cx="32955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Getting Landmark Coordinates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76578" y="5067299"/>
            <a:ext cx="4448063" cy="666750"/>
          </a:xfrm>
          <a:prstGeom prst="roundRect">
            <a:avLst>
              <a:gd name="adj" fmla="val 2285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190895" y="5290651"/>
            <a:ext cx="285742" cy="2390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629034" y="5276850"/>
            <a:ext cx="33812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Practical Applications &amp; Best Practices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87720"/>
            <a:ext cx="342891" cy="2246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639111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WHAT IS COMPUTER VISION?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1714500"/>
            <a:ext cx="5591035" cy="1123949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70799" y="2210434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426" y="1904999"/>
            <a:ext cx="5133846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A field of AI that enables computers to </a:t>
            </a: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see</a:t>
            </a:r>
            <a:r>
              <a:rPr sz="1435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and </a:t>
            </a: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understand</a:t>
            </a:r>
            <a:r>
              <a:rPr sz="1435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images or videos 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33" y="3314700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19" y="3219449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KEY CAPABILITIES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638550"/>
            <a:ext cx="2724081" cy="666750"/>
          </a:xfrm>
          <a:prstGeom prst="roundRect">
            <a:avLst>
              <a:gd name="adj" fmla="val 2285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8654" y="3870648"/>
            <a:ext cx="285742" cy="2216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8694" y="3848099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Image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3211" y="3638550"/>
            <a:ext cx="2724081" cy="666750"/>
          </a:xfrm>
          <a:prstGeom prst="roundRect">
            <a:avLst>
              <a:gd name="adj" fmla="val 2285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695607" y="3902722"/>
            <a:ext cx="285742" cy="1574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95647" y="3848099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Video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457700"/>
            <a:ext cx="2724081" cy="666750"/>
          </a:xfrm>
          <a:prstGeom prst="roundRect">
            <a:avLst>
              <a:gd name="adj" fmla="val 2285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4789055"/>
            <a:ext cx="285742" cy="230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8694" y="466724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Object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3211" y="4457700"/>
            <a:ext cx="2724081" cy="666750"/>
          </a:xfrm>
          <a:prstGeom prst="roundRect">
            <a:avLst>
              <a:gd name="adj" fmla="val 2285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95607" y="4678135"/>
            <a:ext cx="285742" cy="244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95647" y="4667249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Face Recognition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5276850"/>
            <a:ext cx="5591035" cy="666750"/>
          </a:xfrm>
          <a:prstGeom prst="roundRect">
            <a:avLst>
              <a:gd name="adj" fmla="val 2285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451966" y="5448300"/>
            <a:ext cx="258487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838379" y="548640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Gesture Recognition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19749" y="1543050"/>
            <a:ext cx="4505212" cy="4591050"/>
          </a:xfrm>
          <a:prstGeom prst="roundRect">
            <a:avLst>
              <a:gd name="adj" fmla="val 338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29274" y="1543050"/>
            <a:ext cx="4486162" cy="45720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0424"/>
            <a:ext cx="342891" cy="319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61950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WHAT IS MEDIAPIPE?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1600200"/>
            <a:ext cx="5914877" cy="1123949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70799" y="2096134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426" y="1790700"/>
            <a:ext cx="5457688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A </a:t>
            </a: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machine learning framework</a:t>
            </a:r>
            <a:r>
              <a:rPr sz="1435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by Google for real-time perception 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33" y="3200400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19" y="3105149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KEY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24250"/>
            <a:ext cx="2886002" cy="742950"/>
          </a:xfrm>
          <a:prstGeom prst="roundRect">
            <a:avLst>
              <a:gd name="adj" fmla="val 2051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0381" y="3733799"/>
            <a:ext cx="258487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6793" y="3771900"/>
            <a:ext cx="11810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Hand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5132" y="3524250"/>
            <a:ext cx="2886002" cy="742950"/>
          </a:xfrm>
          <a:prstGeom prst="roundRect">
            <a:avLst>
              <a:gd name="adj" fmla="val 2051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905152" y="3782785"/>
            <a:ext cx="285742" cy="244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05192" y="3771900"/>
            <a:ext cx="12191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Face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419600"/>
            <a:ext cx="2886002" cy="742950"/>
          </a:xfrm>
          <a:prstGeom prst="roundRect">
            <a:avLst>
              <a:gd name="adj" fmla="val 2051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66753" y="4678135"/>
            <a:ext cx="285742" cy="244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6793" y="4667249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Pose Estimation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5132" y="4419600"/>
            <a:ext cx="2886002" cy="742950"/>
          </a:xfrm>
          <a:prstGeom prst="roundRect">
            <a:avLst>
              <a:gd name="adj" fmla="val 2051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905152" y="4678135"/>
            <a:ext cx="285742" cy="244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05192" y="466724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Object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5314950"/>
            <a:ext cx="5914877" cy="742950"/>
          </a:xfrm>
          <a:prstGeom prst="roundRect">
            <a:avLst>
              <a:gd name="adj" fmla="val 2051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613887" y="5524499"/>
            <a:ext cx="258487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00299" y="556260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Gesture Recognition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43591" y="1695449"/>
            <a:ext cx="4181370" cy="33528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3116" y="1695449"/>
            <a:ext cx="4162320" cy="33337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3116" y="1695449"/>
            <a:ext cx="4162320" cy="3333749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43591" y="5238749"/>
            <a:ext cx="4181370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43611" y="5500104"/>
            <a:ext cx="285742" cy="20119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43651" y="5467349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Real-Time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425" y="5429250"/>
            <a:ext cx="135251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60+ FPS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547673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MEDIAPIPE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2095499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19" y="2000250"/>
            <a:ext cx="27336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WHAT MEDIAPIPE PROVIDES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33" y="2495550"/>
            <a:ext cx="4581410" cy="647699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08924" y="27533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696935"/>
            <a:ext cx="285742" cy="244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565" y="2686050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Ready-made AI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33" y="3333749"/>
            <a:ext cx="4581410" cy="647699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408924" y="359155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3546798"/>
            <a:ext cx="285742" cy="2216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565" y="3524250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Pre-trained Pipelines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733" y="4171950"/>
            <a:ext cx="4581410" cy="647699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4297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4373335"/>
            <a:ext cx="285742" cy="244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565" y="43624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No Training from Scratch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733" y="5010149"/>
            <a:ext cx="4581410" cy="647699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08924" y="526795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" y="5211535"/>
            <a:ext cx="285742" cy="244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71565" y="5200650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Easy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7728" y="1485900"/>
            <a:ext cx="457188" cy="9525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9214" y="1390650"/>
            <a:ext cx="23907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879F9"/>
                </a:solidFill>
                <a:latin typeface="Inter"/>
                <a:rFonts ascii="Inter" hAnsi="Inter" eastAsia="Inter" cs="Inter"/>
              </a:rPr>
              <a:t>PROJECT APPLICATIONS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7728" y="1885950"/>
            <a:ext cx="2762180" cy="154305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10224" y="2214813"/>
            <a:ext cx="457188" cy="2947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19729" y="2705099"/>
            <a:ext cx="838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Real-Time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6858" y="2971800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Hand Detection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62780" y="1885950"/>
            <a:ext cx="2762180" cy="154305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915277" y="2169694"/>
            <a:ext cx="457188" cy="3850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86702" y="2705099"/>
            <a:ext cx="5238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Finger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3831" y="2971800"/>
            <a:ext cx="8000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Landmarks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7728" y="3581400"/>
            <a:ext cx="2762180" cy="154305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010224" y="3952373"/>
            <a:ext cx="457188" cy="2105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19749" y="4400550"/>
            <a:ext cx="438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4501" y="4667249"/>
            <a:ext cx="6191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Skeleton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62780" y="3581400"/>
            <a:ext cx="2762180" cy="154305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915277" y="4000500"/>
            <a:ext cx="457188" cy="114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96227" y="4400550"/>
            <a:ext cx="4952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Depth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2405" y="4667249"/>
            <a:ext cx="7429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Estimation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7728" y="5353049"/>
            <a:ext cx="5667233" cy="9144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E879F9"/>
              </a:gs>
              <a:gs pos="100000">
                <a:srgbClr val="FB923C"/>
              </a:gs>
            </a:gsLst>
            <a:lin scaled="0" ang="10800000"/>
          </a:gradFill>
          <a:ln w="1651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067273" y="5672794"/>
            <a:ext cx="342891" cy="27491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562560" y="5562600"/>
            <a:ext cx="25907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Gesture Controlled Robotics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2560" y="5829300"/>
            <a:ext cx="25907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Using 21 hand landmarks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00999" y="5600700"/>
            <a:ext cx="1314417" cy="419100"/>
          </a:xfrm>
          <a:prstGeom prst="roundRect">
            <a:avLst>
              <a:gd name="adj" fmla="val 45450000"/>
            </a:avLst>
          </a:prstGeom>
          <a:solidFill>
            <a:srgbClr val="E879F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53396" y="5715000"/>
            <a:ext cx="100962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0ABFC"/>
                </a:solidFill>
                <a:latin typeface="Inter"/>
                <a:rFonts ascii="Inter" hAnsi="Inter" eastAsia="Inter" cs="Inter"/>
              </a:rPr>
              <a:t>Project Goal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84810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WHY USE MEDIAPIPE?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2057400"/>
            <a:ext cx="5667233" cy="1000125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32711" y="2491422"/>
            <a:ext cx="1000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293554"/>
            <a:ext cx="342891" cy="289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28714" y="2247899"/>
            <a:ext cx="4714757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Instead of </a:t>
            </a:r>
            <a:r>
              <a:rPr sz="1196" b="1">
                <a:solidFill>
                  <a:srgbClr val="E879F9"/>
                </a:solidFill>
                <a:latin typeface="Inter"/>
                <a:rFonts ascii="Inter" hAnsi="Inter" eastAsia="Inter" cs="Inter"/>
              </a:rPr>
              <a:t>training AI models from scratch</a:t>
            </a: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, MediaPipe provides </a:t>
            </a: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pre-trained pipelines</a:t>
            </a: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362324"/>
            <a:ext cx="2762180" cy="1047749"/>
          </a:xfrm>
          <a:prstGeom prst="roundRect">
            <a:avLst>
              <a:gd name="adj" fmla="val 1454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6753" y="3611335"/>
            <a:ext cx="285742" cy="244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6793" y="3600450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Faster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53" y="3981449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Rapid prototyping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310" y="3362324"/>
            <a:ext cx="2762180" cy="1047749"/>
          </a:xfrm>
          <a:prstGeom prst="roundRect">
            <a:avLst>
              <a:gd name="adj" fmla="val 1454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71805" y="3611335"/>
            <a:ext cx="285742" cy="244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71845" y="3600450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Accurate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805" y="3981449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Production-ready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562475"/>
            <a:ext cx="2762180" cy="1047749"/>
          </a:xfrm>
          <a:prstGeom prst="roundRect">
            <a:avLst>
              <a:gd name="adj" fmla="val 1454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6753" y="4903445"/>
            <a:ext cx="285742" cy="610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66793" y="4800600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Google Maintained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53" y="5181599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Industry standard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81310" y="4562475"/>
            <a:ext cx="2762180" cy="1047749"/>
          </a:xfrm>
          <a:prstGeom prst="roundRect">
            <a:avLst>
              <a:gd name="adj" fmla="val 1454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771805" y="4831896"/>
            <a:ext cx="285742" cy="2041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71845" y="4800600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Cross-Platform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805" y="5181599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Multiple platforms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3551" y="1466849"/>
            <a:ext cx="4581410" cy="3638550"/>
          </a:xfrm>
          <a:prstGeom prst="roundRect">
            <a:avLst>
              <a:gd name="adj" fmla="val 418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53076" y="1485900"/>
            <a:ext cx="4562360" cy="3619499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43551" y="5295899"/>
            <a:ext cx="458141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E879F9"/>
              </a:gs>
              <a:gs pos="100000">
                <a:srgbClr val="FB923C"/>
              </a:gs>
            </a:gsLst>
            <a:lin scaled="0" ang="108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143571" y="5637925"/>
            <a:ext cx="285742" cy="23034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43611" y="5505450"/>
            <a:ext cx="23335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Gesture Controlled Robotics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611" y="5772150"/>
            <a:ext cx="23335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Real-time hand tracking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72940"/>
            <a:ext cx="342891" cy="254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509574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INSTALLING MEDIAPIPE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0954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703" y="2171700"/>
            <a:ext cx="952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7E8F9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17" y="2057400"/>
            <a:ext cx="49433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Open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17" y="2400300"/>
            <a:ext cx="49433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Launch command prompt or 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8956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E879F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654" y="2971800"/>
            <a:ext cx="1428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0ABFC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417" y="2857500"/>
            <a:ext cx="49433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Run Command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14417" y="3200400"/>
            <a:ext cx="4943351" cy="514350"/>
          </a:xfrm>
          <a:prstGeom prst="roundRect">
            <a:avLst>
              <a:gd name="adj" fmla="val 29629"/>
            </a:avLst>
          </a:prstGeom>
          <a:solidFill>
            <a:srgbClr val="000000">
              <a:alpha val="4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6733" y="39814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29" y="4057650"/>
            <a:ext cx="1428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DBA74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4417" y="3943350"/>
            <a:ext cx="49433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Wait for Download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17" y="4286250"/>
            <a:ext cx="49433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Package downloads and installs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7815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29" y="4857750"/>
            <a:ext cx="15239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7E8F9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17" y="4743450"/>
            <a:ext cx="49433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Verify Installation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5086350"/>
            <a:ext cx="4943351" cy="514350"/>
          </a:xfrm>
          <a:prstGeom prst="roundRect">
            <a:avLst>
              <a:gd name="adj" fmla="val 29629"/>
            </a:avLst>
          </a:prstGeom>
          <a:solidFill>
            <a:srgbClr val="000000">
              <a:alpha val="4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9749" y="1409699"/>
            <a:ext cx="4505212" cy="2609850"/>
          </a:xfrm>
          <a:prstGeom prst="roundRect">
            <a:avLst>
              <a:gd name="adj" fmla="val 5839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34066" y="1779204"/>
            <a:ext cx="342891" cy="2896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91255" y="1771650"/>
            <a:ext cx="153348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4066" y="2343150"/>
            <a:ext cx="3876578" cy="1371600"/>
          </a:xfrm>
          <a:prstGeom prst="roundRect">
            <a:avLst>
              <a:gd name="adj" fmla="val 11111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24561" y="262318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67453" y="2552700"/>
            <a:ext cx="12286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Python 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3651" y="2952750"/>
            <a:ext cx="30764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Python 3.6 - 3.11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943651" y="3312458"/>
            <a:ext cx="190495" cy="1568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10344" y="3276599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0ABFC"/>
                </a:solidFill>
                <a:latin typeface="Inter"/>
                <a:rFonts ascii="Inter" hAnsi="Inter" eastAsia="Inter" cs="Inter"/>
              </a:rPr>
              <a:t>Recommended: Python 3.11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19749" y="4248150"/>
            <a:ext cx="4505212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666689" y="46012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248343" y="4447222"/>
            <a:ext cx="228594" cy="21145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591235" y="4400550"/>
            <a:ext cx="3000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Quick Tip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1235" y="4705350"/>
            <a:ext cx="3000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Use virtual environment for isolated setup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19749" y="5314950"/>
            <a:ext cx="2181170" cy="933449"/>
          </a:xfrm>
          <a:prstGeom prst="roundRect">
            <a:avLst>
              <a:gd name="adj" fmla="val 163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1670" y="5486400"/>
            <a:ext cx="185732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60+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1670" y="5905500"/>
            <a:ext cx="18573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FPS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53316" y="5314950"/>
            <a:ext cx="2181170" cy="933449"/>
          </a:xfrm>
          <a:prstGeom prst="roundRect">
            <a:avLst>
              <a:gd name="adj" fmla="val 163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5712" y="5486400"/>
            <a:ext cx="185732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5712" y="5905500"/>
            <a:ext cx="18573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Landmarks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6336"/>
            <a:ext cx="342891" cy="307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54331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TEST INSTALLATION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628900"/>
            <a:ext cx="6133946" cy="542925"/>
          </a:xfrm>
          <a:prstGeom prst="roundRect">
            <a:avLst>
              <a:gd name="adj" fmla="val 28070"/>
            </a:avLst>
          </a:prstGeom>
          <a:solidFill>
            <a:srgbClr val="000000">
              <a:alpha val="4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2812732"/>
            <a:ext cx="228594" cy="1657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1545" y="2762249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1D5DB"/>
                </a:solidFill>
                <a:latin typeface="Inter"/>
                <a:rFonts ascii="Inter" hAnsi="Inter" eastAsia="Inter" cs="Inter"/>
              </a:rPr>
              <a:t>test_mediapipe.py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5372" y="28384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5867" y="28384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6362" y="28384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6733" y="3162299"/>
            <a:ext cx="6133946" cy="1152524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852" y="3390899"/>
            <a:ext cx="666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0ABFC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52" y="3809999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0ABFC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514850"/>
            <a:ext cx="156206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4710112"/>
            <a:ext cx="22859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0119" y="4648200"/>
            <a:ext cx="8000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Run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1190" y="4667249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Press Enter to execute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660" y="1752599"/>
            <a:ext cx="3962300" cy="1885950"/>
          </a:xfrm>
          <a:prstGeom prst="roundRect">
            <a:avLst>
              <a:gd name="adj" fmla="val 8080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00779" y="2049235"/>
            <a:ext cx="285742" cy="244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00819" y="2038349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Expected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00779" y="2533649"/>
            <a:ext cx="3486062" cy="876299"/>
          </a:xfrm>
          <a:prstGeom prst="roundRect">
            <a:avLst>
              <a:gd name="adj" fmla="val 17391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991275" y="27661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57968" y="3028950"/>
            <a:ext cx="28383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MediaPipe version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62660" y="3867149"/>
            <a:ext cx="3962300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7209600" y="42202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791255" y="4063364"/>
            <a:ext cx="228594" cy="2171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34146" y="401954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Installation Successful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4146" y="4324349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MediaPipe is ready to 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62660" y="4933950"/>
            <a:ext cx="1904952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72265" y="5148554"/>
            <a:ext cx="285742" cy="25659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24581" y="5524499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Easy Import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20009" y="4933950"/>
            <a:ext cx="1904952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429614" y="5176254"/>
            <a:ext cx="285742" cy="2011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781930" y="5524499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Fast Setup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19524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534339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HOW MEDIAPIPE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1390650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19" y="1266824"/>
            <a:ext cx="27050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BLACK BOX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838324"/>
            <a:ext cx="2438339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2070423"/>
            <a:ext cx="285742" cy="2216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2047874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Input Frame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885902" y="2783927"/>
            <a:ext cx="342891" cy="24239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6733" y="3286125"/>
            <a:ext cx="2438339" cy="1485900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1651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714457" y="3591253"/>
            <a:ext cx="342891" cy="2660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8239" y="3990974"/>
            <a:ext cx="8953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Black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7308" y="4295774"/>
            <a:ext cx="4476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Model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885902" y="5031827"/>
            <a:ext cx="342891" cy="24239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6733" y="5534025"/>
            <a:ext cx="2438339" cy="8762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1651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4377" y="5875953"/>
            <a:ext cx="285742" cy="1924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4417" y="5705475"/>
            <a:ext cx="1543011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Predicted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7393" y="1543050"/>
            <a:ext cx="4257568" cy="2533649"/>
          </a:xfrm>
          <a:prstGeom prst="roundRect">
            <a:avLst>
              <a:gd name="adj" fmla="val 6015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505512" y="1841823"/>
            <a:ext cx="285742" cy="2216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05552" y="181927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Training Process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5512" y="2314575"/>
            <a:ext cx="3781330" cy="1523999"/>
          </a:xfrm>
          <a:prstGeom prst="roundRect">
            <a:avLst>
              <a:gd name="adj" fmla="val 10000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96007" y="2623297"/>
            <a:ext cx="190495" cy="1064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00799" y="2505074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Model trained on large dataset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96007" y="3042397"/>
            <a:ext cx="190495" cy="10645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00799" y="2924175"/>
            <a:ext cx="23145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Images with hand landmarks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96007" y="3461497"/>
            <a:ext cx="190495" cy="10645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00799" y="3343275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Learns to predict positions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7393" y="4305300"/>
            <a:ext cx="4257568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914333" y="46583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95987" y="4511516"/>
            <a:ext cx="228594" cy="19716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838879" y="445770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Pre-Trained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8879" y="4762500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 training required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7393" y="5295899"/>
            <a:ext cx="4257568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6914333" y="564895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95987" y="5512117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38879" y="5448300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Instant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8879" y="5753099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Ready to use immediately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29425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0525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42901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MEDIAPIPE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1390650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19" y="1266824"/>
            <a:ext cx="31241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PROCESSING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33" y="1838324"/>
            <a:ext cx="5591035" cy="6096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27973" y="2077084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9526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206748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2009774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Camera Frame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76778" y="2060257"/>
            <a:ext cx="228594" cy="1657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66733" y="2562224"/>
            <a:ext cx="5591035" cy="6096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27973" y="2800984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5327" y="26765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879F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2813797"/>
            <a:ext cx="190495" cy="1064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28714" y="2733674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OpenCV Capture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76778" y="2784157"/>
            <a:ext cx="228594" cy="16573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66733" y="3286125"/>
            <a:ext cx="5591035" cy="6096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27973" y="35248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5327" y="34004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3529292"/>
            <a:ext cx="190495" cy="1232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28714" y="3457575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Convert BGR → RGB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76778" y="3508057"/>
            <a:ext cx="228594" cy="16573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66733" y="4010024"/>
            <a:ext cx="5591035" cy="6096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27973" y="4248784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5327" y="41243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90575" y="4239185"/>
            <a:ext cx="190495" cy="15127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28714" y="4181474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MediaPipe Hands Model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76778" y="4231957"/>
            <a:ext cx="228594" cy="165734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66733" y="4733925"/>
            <a:ext cx="5591035" cy="6096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427973" y="49726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5327" y="48482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879F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90575" y="4914059"/>
            <a:ext cx="190495" cy="24933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28714" y="4905375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Detect Hand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76778" y="4955857"/>
            <a:ext cx="228594" cy="165734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66733" y="5457825"/>
            <a:ext cx="5591035" cy="6096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427973" y="56965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5327" y="55721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90575" y="5672977"/>
            <a:ext cx="190495" cy="17929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28714" y="5629275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Return 21 Landmarks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76778" y="5679757"/>
            <a:ext cx="228594" cy="165734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666733" y="6181724"/>
            <a:ext cx="5591035" cy="6096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427973" y="6420484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5327" y="62960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90575" y="6410885"/>
            <a:ext cx="190495" cy="15127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428714" y="6353174"/>
            <a:ext cx="20287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OpenCV Draws Skeleton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19749" y="2066924"/>
            <a:ext cx="4505212" cy="1733550"/>
          </a:xfrm>
          <a:prstGeom prst="roundRect">
            <a:avLst>
              <a:gd name="adj" fmla="val 8791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048523" y="2320089"/>
            <a:ext cx="457188" cy="42712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257868" y="2914650"/>
            <a:ext cx="40289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Real-Time Processing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7868" y="3295650"/>
            <a:ext cx="40289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Complete pipeline in </a:t>
            </a:r>
            <a:r>
              <a:rPr sz="1076" b="1">
                <a:solidFill>
                  <a:srgbClr val="F0ABFC"/>
                </a:solidFill>
                <a:latin typeface="Inter"/>
                <a:rFonts ascii="Inter" hAnsi="Inter" eastAsia="Inter" cs="Inter"/>
              </a:rPr>
              <a:t>60+ FPS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19749" y="4029075"/>
            <a:ext cx="218117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181670" y="4261961"/>
            <a:ext cx="228594" cy="16287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486462" y="4229100"/>
            <a:ext cx="3143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Fast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81670" y="4572000"/>
            <a:ext cx="18573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Optimized pipeline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53316" y="4029075"/>
            <a:ext cx="218117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505712" y="4240529"/>
            <a:ext cx="228594" cy="20573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810504" y="4229100"/>
            <a:ext cx="6667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Accurate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5712" y="4572000"/>
            <a:ext cx="18573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Pre-trained models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19749" y="5153024"/>
            <a:ext cx="4505212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 rot="16200000">
            <a:off x="6666689" y="55060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7248343" y="5306377"/>
            <a:ext cx="228594" cy="30289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591235" y="5305425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Hand Tracking Ready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91235" y="5610224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21 landmarks per hand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7210424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105274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94689" y="209550"/>
            <a:ext cx="286979" cy="380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670543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MEDIAPIPE HAND LANDMARKS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76400"/>
            <a:ext cx="4505212" cy="1571625"/>
          </a:xfrm>
          <a:prstGeom prst="roundRect">
            <a:avLst>
              <a:gd name="adj" fmla="val 9696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1951847"/>
            <a:ext cx="285742" cy="2682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4892" y="1952624"/>
            <a:ext cx="12191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21 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52" y="2447924"/>
            <a:ext cx="4028974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MediaPipe detects </a:t>
            </a:r>
            <a:r>
              <a:rPr sz="1076" b="1">
                <a:solidFill>
                  <a:srgbClr val="67E8F9"/>
                </a:solidFill>
                <a:latin typeface="Inter"/>
                <a:rFonts ascii="Inter" hAnsi="Inter" eastAsia="Inter" cs="Inter"/>
              </a:rPr>
              <a:t>21 key points</a:t>
            </a:r>
            <a:r>
              <a:rPr sz="107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 on each hand and returns them as coordinates in the image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33" y="3467100"/>
            <a:ext cx="4505212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13673" y="38201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6747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8219" y="3619499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Precise Coordinates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19" y="3924299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x, y, z position for each 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33" y="4457700"/>
            <a:ext cx="4505212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13673" y="48107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4681061"/>
            <a:ext cx="228594" cy="16287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38219" y="4610099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Real-Time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19" y="4914900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Instant hand tracking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733" y="5448300"/>
            <a:ext cx="4505212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313673" y="58013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56645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8219" y="5600700"/>
            <a:ext cx="17430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Calculate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19" y="5905500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Angles, length, direction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33926" y="1266824"/>
            <a:ext cx="5591035" cy="4305300"/>
          </a:xfrm>
          <a:prstGeom prst="roundRect">
            <a:avLst>
              <a:gd name="adj" fmla="val 3539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451" y="1276350"/>
            <a:ext cx="5571985" cy="428625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33926" y="5762625"/>
            <a:ext cx="1762080" cy="933449"/>
          </a:xfrm>
          <a:prstGeom prst="roundRect">
            <a:avLst>
              <a:gd name="adj" fmla="val 163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5847" y="5924549"/>
            <a:ext cx="143823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5847" y="634365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Landmarks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8403" y="5762625"/>
            <a:ext cx="1762080" cy="933449"/>
          </a:xfrm>
          <a:prstGeom prst="roundRect">
            <a:avLst>
              <a:gd name="adj" fmla="val 163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0324" y="5924549"/>
            <a:ext cx="143823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324" y="634365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Fingers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62880" y="5762625"/>
            <a:ext cx="1762080" cy="933449"/>
          </a:xfrm>
          <a:prstGeom prst="roundRect">
            <a:avLst>
              <a:gd name="adj" fmla="val 163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4801" y="5924549"/>
            <a:ext cx="143823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FB923C"/>
                </a:solidFill>
                <a:latin typeface="Orbitron"/>
                <a:rFonts ascii="Orbitron" hAnsi="Orbitron" eastAsia="Orbitron" cs="Orbitron"/>
              </a:rPr>
              <a:t>3D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4801" y="634365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Coordinates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7115175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0424"/>
            <a:ext cx="342891" cy="319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86715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21 LANDMARK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257300"/>
            <a:ext cx="4581410" cy="5143500"/>
          </a:xfrm>
          <a:prstGeom prst="roundRect">
            <a:avLst>
              <a:gd name="adj" fmla="val 3326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258" y="1276350"/>
            <a:ext cx="4562360" cy="512444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7728" y="1819275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14" y="1695449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HAND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7728" y="2190749"/>
            <a:ext cx="276218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19649" y="23431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4421" y="2400300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Inter"/>
                <a:rFonts ascii="Inter" hAnsi="Inter" eastAsia="Inter" cs="Inter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39" y="2362199"/>
            <a:ext cx="438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Wrist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39" y="2724150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Base point of hand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62780" y="2190749"/>
            <a:ext cx="276218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34226" y="23431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1850" y="2400300"/>
            <a:ext cx="2095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D0FE"/>
                </a:solidFill>
                <a:latin typeface="Inter"/>
                <a:rFonts ascii="Inter" hAnsi="Inter" eastAsia="Inter" cs="Inter"/>
              </a:rPr>
              <a:t>1-4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3316" y="2362199"/>
            <a:ext cx="5810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Thumb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3316" y="2724150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4 landmark 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7728" y="3238500"/>
            <a:ext cx="276218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19649" y="33908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7748" y="3448049"/>
            <a:ext cx="2285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ED7AA"/>
                </a:solidFill>
                <a:latin typeface="Inter"/>
                <a:rFonts ascii="Inter" hAnsi="Inter" eastAsia="Inter" cs="Inter"/>
              </a:rPr>
              <a:t>5-8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39" y="3409950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Index Finger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739" y="3771900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4 landmark 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2780" y="3238500"/>
            <a:ext cx="276218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34226" y="33908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4226" y="3448049"/>
            <a:ext cx="2857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Inter"/>
                <a:rFonts ascii="Inter" hAnsi="Inter" eastAsia="Inter" cs="Inter"/>
              </a:rPr>
              <a:t>9-12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3316" y="3409950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Middle Finger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3316" y="3771900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4 landmark 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7728" y="4286250"/>
            <a:ext cx="276218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19649" y="44386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9649" y="4400550"/>
            <a:ext cx="30479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D0FE"/>
                </a:solidFill>
                <a:latin typeface="Inter"/>
                <a:rFonts ascii="Inter" hAnsi="Inter" eastAsia="Inter" cs="Inter"/>
              </a:rPr>
              <a:t>13-16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739" y="4457700"/>
            <a:ext cx="9429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Ring Finger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739" y="4819650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4 landmark points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62780" y="4286250"/>
            <a:ext cx="276218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4226" y="44386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34226" y="4400550"/>
            <a:ext cx="30479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ED7AA"/>
                </a:solidFill>
                <a:latin typeface="Inter"/>
                <a:rFonts ascii="Inter" hAnsi="Inter" eastAsia="Inter" cs="Inter"/>
              </a:rPr>
              <a:t>17-20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3316" y="4457700"/>
            <a:ext cx="9810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Little Finger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3316" y="4819650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4 landmark 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9194" y="5372100"/>
            <a:ext cx="73340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9194" y="5791200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Total 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6007" y="5448300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8939" y="5372100"/>
            <a:ext cx="46671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8939" y="5791200"/>
            <a:ext cx="4667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Fingers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48583" y="5448300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91515" y="5372100"/>
            <a:ext cx="76198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B923C"/>
                </a:solidFill>
                <a:latin typeface="Orbitron"/>
                <a:rFonts ascii="Orbitron" hAnsi="Orbitron" eastAsia="Orbitron" cs="Orbitron"/>
              </a:rPr>
              <a:t>3D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91515" y="5791200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Coordinates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87667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LANDMARK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447800"/>
            <a:ext cx="5914877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852" y="1619250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Inter"/>
                <a:rFonts ascii="Inter" hAnsi="Inter" eastAsia="Inter" cs="Inter"/>
              </a:rPr>
              <a:t>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4557" y="1619250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Inter"/>
                <a:rFonts ascii="Inter" hAnsi="Inter" eastAsia="Inter" cs="Inter"/>
              </a:rPr>
              <a:t>Meaning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038349"/>
            <a:ext cx="5914877" cy="417195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4852" y="21907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199" y="2247899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F3FC"/>
                </a:solidFill>
                <a:latin typeface="Inter"/>
                <a:rFonts ascii="Inter" hAnsi="Inter" eastAsia="Inter" cs="Inter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4557" y="2247899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Wrist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852" y="28956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000" y="29527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5D0FE"/>
                </a:solidFill>
                <a:latin typeface="Inter"/>
                <a:rFonts ascii="Inter" hAnsi="Inter" eastAsia="Inter" cs="Inter"/>
              </a:rPr>
              <a:t>1-4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4557" y="2952750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Thumb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852" y="35814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476" y="3638550"/>
            <a:ext cx="2952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ED7AA"/>
                </a:solidFill>
                <a:latin typeface="Inter"/>
                <a:rFonts ascii="Inter" hAnsi="Inter" eastAsia="Inter" cs="Inter"/>
              </a:rPr>
              <a:t>5-8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4557" y="3638550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Index Finger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852" y="42862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77" y="4343400"/>
            <a:ext cx="3714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F3FC"/>
                </a:solidFill>
                <a:latin typeface="Inter"/>
                <a:rFonts ascii="Inter" hAnsi="Inter" eastAsia="Inter" cs="Inter"/>
              </a:rPr>
              <a:t>9-12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4557" y="4343400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Middle Finger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852" y="49720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852" y="4895849"/>
            <a:ext cx="380990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5D0FE"/>
                </a:solidFill>
                <a:latin typeface="Inter"/>
                <a:rFonts ascii="Inter" hAnsi="Inter" eastAsia="Inter" cs="Inter"/>
              </a:rPr>
              <a:t>13-16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4557" y="5029200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Ring Finger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852" y="56769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852" y="5600700"/>
            <a:ext cx="380990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ED7AA"/>
                </a:solidFill>
                <a:latin typeface="Inter"/>
                <a:rFonts ascii="Inter" hAnsi="Inter" eastAsia="Inter" cs="Inter"/>
              </a:rPr>
              <a:t>17-20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4557" y="5734050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Little Finger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43591" y="1523999"/>
            <a:ext cx="4181370" cy="2428875"/>
          </a:xfrm>
          <a:prstGeom prst="roundRect">
            <a:avLst>
              <a:gd name="adj" fmla="val 6274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581710" y="1811110"/>
            <a:ext cx="285742" cy="2449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81750" y="1800225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Key Information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1710" y="2257425"/>
            <a:ext cx="370513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These coordinates are used to calculate: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81710" y="2766172"/>
            <a:ext cx="190495" cy="10645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886502" y="2686050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Finger angle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81710" y="3147172"/>
            <a:ext cx="190495" cy="10645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86502" y="3067050"/>
            <a:ext cx="10667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Finger length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81710" y="3528172"/>
            <a:ext cx="190495" cy="1064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86502" y="3448049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Finger direction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43591" y="4181474"/>
            <a:ext cx="1314417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5512" y="4343400"/>
            <a:ext cx="9905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5512" y="4724399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Points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2305" y="4181474"/>
            <a:ext cx="1314417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34226" y="4343400"/>
            <a:ext cx="9905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34226" y="4724399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Fingers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10544" y="4181474"/>
            <a:ext cx="1314417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2465" y="4343400"/>
            <a:ext cx="9905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FB923C"/>
                </a:solidFill>
                <a:latin typeface="Orbitron"/>
                <a:rFonts ascii="Orbitron" hAnsi="Orbitron" eastAsia="Orbitron" cs="Orbitron"/>
              </a:rPr>
              <a:t>3D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2465" y="4724399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Space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43591" y="5305425"/>
            <a:ext cx="4181370" cy="838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6990531" y="56584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572185" y="5504497"/>
            <a:ext cx="228594" cy="21145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915077" y="5457825"/>
            <a:ext cx="2438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15077" y="5762625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Point 4, 8, 12, 16, 20 are fingertips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08412"/>
            <a:ext cx="342891" cy="183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673400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BASIC HAND DETECTION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257300"/>
            <a:ext cx="5200519" cy="5143500"/>
          </a:xfrm>
          <a:prstGeom prst="roundRect">
            <a:avLst>
              <a:gd name="adj" fmla="val 2962"/>
            </a:avLst>
          </a:prstGeom>
          <a:solidFill>
            <a:srgbClr val="000000">
              <a:alpha val="4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258" y="1276350"/>
            <a:ext cx="5181470" cy="504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442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446" y="13906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D1_HandMap.py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1" y="2676524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5927" y="2552700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CODE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1" y="3009900"/>
            <a:ext cx="2543111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8263" y="31242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0659" y="3181350"/>
            <a:ext cx="666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F3FC"/>
                </a:solidFill>
                <a:latin typeface="Orbitron"/>
                <a:rFonts ascii="Orbitron" hAnsi="Orbitron" eastAsia="Orbitron" cs="Orbitro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3551" y="32004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Import Libraries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1850" y="3009900"/>
            <a:ext cx="2543111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5672" y="31242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879F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9494" y="3181350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5D0FE"/>
                </a:solidFill>
                <a:latin typeface="Orbitron"/>
                <a:rFonts ascii="Orbitron" hAnsi="Orbitron" eastAsia="Orbitron" cs="Orbitro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0959" y="32004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Setup MediaPipe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1" y="3752849"/>
            <a:ext cx="2543111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8263" y="38671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2085" y="3924299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ED7AA"/>
                </a:solidFill>
                <a:latin typeface="Orbitron"/>
                <a:rFonts ascii="Orbitron" hAnsi="Orbitron" eastAsia="Orbitron" cs="Orbitro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3551" y="394335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Initialize Webcam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1850" y="3752849"/>
            <a:ext cx="2543111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05672" y="38671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494" y="3924299"/>
            <a:ext cx="1238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F3FC"/>
                </a:solidFill>
                <a:latin typeface="Orbitron"/>
                <a:rFonts ascii="Orbitron" hAnsi="Orbitron" eastAsia="Orbitron" cs="Orbitron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0959" y="394335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Process Frames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4441" y="4495799"/>
            <a:ext cx="2543111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48263" y="46100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879F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2085" y="4667249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5D0FE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3551" y="46863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Detect Hands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1850" y="4495799"/>
            <a:ext cx="2543111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05672" y="46100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9494" y="4667249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ED7AA"/>
                </a:solidFill>
                <a:latin typeface="Orbitron"/>
                <a:rFonts ascii="Orbitron" hAnsi="Orbitron" eastAsia="Orbitron" cs="Orbitron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0959" y="46863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Draw Landmarks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624824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CODE BREAKDOWN -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257300"/>
            <a:ext cx="5200519" cy="5143500"/>
          </a:xfrm>
          <a:prstGeom prst="roundRect">
            <a:avLst>
              <a:gd name="adj" fmla="val 2962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258" y="1276350"/>
            <a:ext cx="5181470" cy="428625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436124"/>
            <a:ext cx="171445" cy="995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4397" y="1371600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Setup &amp; Initialization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1" y="2314575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5927" y="2209800"/>
            <a:ext cx="16287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STEP-BY-STEP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1" y="2590799"/>
            <a:ext cx="2543111" cy="647699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066632" y="28486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14937" y="27241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9709" y="2762249"/>
            <a:ext cx="476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Orbitron"/>
                <a:rFonts ascii="Orbitron" hAnsi="Orbitron" eastAsia="Orbitron" cs="Orbitro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828" y="2705099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Import OpenCV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828" y="2933699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Image processing 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81850" y="2590799"/>
            <a:ext cx="2543111" cy="647699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8724041" y="28486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72345" y="27241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8543" y="2762249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D0FE"/>
                </a:solidFill>
                <a:latin typeface="Orbitron"/>
                <a:rFonts ascii="Orbitron" hAnsi="Orbitron" eastAsia="Orbitron" cs="Orbitron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5237" y="2705099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Import MediaPipe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5237" y="2933699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Hand tracking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1" y="3352800"/>
            <a:ext cx="2543111" cy="647699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066632" y="36106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14937" y="34861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1135" y="3524250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ED7AA"/>
                </a:solidFill>
                <a:latin typeface="Orbitron"/>
                <a:rFonts ascii="Orbitron" hAnsi="Orbitron" eastAsia="Orbitron" cs="Orbitron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828" y="3467100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Setup Hands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828" y="3695699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Detection functionality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81850" y="3352800"/>
            <a:ext cx="2543111" cy="647699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8724041" y="36106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72345" y="34861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8068" y="3524250"/>
            <a:ext cx="952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Orbitron"/>
                <a:rFonts ascii="Orbitron" hAnsi="Orbitron" eastAsia="Orbitron" cs="Orbitron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5237" y="3467100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Drawing Utils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5237" y="3695699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Skeleton visualization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441" y="4114800"/>
            <a:ext cx="5200519" cy="647699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066632" y="43726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14937" y="42481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1135" y="4286250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D0FE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7828" y="4229100"/>
            <a:ext cx="23526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Initialize Webcam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7828" y="4457700"/>
            <a:ext cx="23526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Connect to default camera (device 0)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4441" y="4952999"/>
            <a:ext cx="5200519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48263" y="5125986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95907" y="5067299"/>
            <a:ext cx="32860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Note: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VideoCapture(0) accesses the default camera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08412"/>
            <a:ext cx="342891" cy="183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1025816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CODE BREAKDOWN - WEBCAM &amp;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038224"/>
            <a:ext cx="5200519" cy="6029325"/>
          </a:xfrm>
          <a:prstGeom prst="roundRect">
            <a:avLst>
              <a:gd name="adj" fmla="val 2930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258" y="1047749"/>
            <a:ext cx="5181470" cy="428625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207524"/>
            <a:ext cx="171445" cy="995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4397" y="1143000"/>
            <a:ext cx="21906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Capture &amp; Process Frames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1" y="2552700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5927" y="2447924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PROCESS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1" y="2828925"/>
            <a:ext cx="2543111" cy="647699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066632" y="30867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14937" y="29622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9709" y="3000375"/>
            <a:ext cx="476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Orbitron"/>
                <a:rFonts ascii="Orbitron" hAnsi="Orbitron" eastAsia="Orbitron" cs="Orbitro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828" y="2943225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Read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828" y="3171825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Capture from webcam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81850" y="2828925"/>
            <a:ext cx="2543111" cy="647699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8724041" y="30867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72345" y="29622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8543" y="3000375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D0FE"/>
                </a:solidFill>
                <a:latin typeface="Orbitron"/>
                <a:rFonts ascii="Orbitron" hAnsi="Orbitron" eastAsia="Orbitron" cs="Orbitron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5237" y="2943225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Convert Colors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5237" y="3171825"/>
            <a:ext cx="11143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BGR → RGB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1" y="3590924"/>
            <a:ext cx="2543111" cy="647699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066632" y="38487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14937" y="37242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1135" y="3762374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ED7AA"/>
                </a:solidFill>
                <a:latin typeface="Orbitron"/>
                <a:rFonts ascii="Orbitron" hAnsi="Orbitron" eastAsia="Orbitron" cs="Orbitron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828" y="3705224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Process Frame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828" y="3933824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MediaPipe 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81850" y="3590924"/>
            <a:ext cx="2543111" cy="647699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8724041" y="38487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72345" y="37242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8068" y="3762374"/>
            <a:ext cx="952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Orbitron"/>
                <a:rFonts ascii="Orbitron" hAnsi="Orbitron" eastAsia="Orbitron" cs="Orbitron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5237" y="3705224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Flip Frame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5237" y="3933824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Mirror effect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441" y="4352924"/>
            <a:ext cx="5200519" cy="647699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066632" y="46107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14937" y="4486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1135" y="4524374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D0FE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7828" y="4467224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Display &amp; Exit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7828" y="4695824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Show result, press 'q' to quit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4441" y="5153024"/>
            <a:ext cx="5200519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48263" y="5335536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95907" y="5276850"/>
            <a:ext cx="34860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Important: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OpenCV uses BGR, MediaPipe requires RGB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994385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CODE BREAKDOWN - DETECTION &amp; DRAWING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228725"/>
            <a:ext cx="4657608" cy="5210174"/>
          </a:xfrm>
          <a:prstGeom prst="roundRect">
            <a:avLst>
              <a:gd name="adj" fmla="val 3271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258" y="1238249"/>
            <a:ext cx="4638559" cy="428625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398024"/>
            <a:ext cx="171445" cy="995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4397" y="133350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Hand Detection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81530" y="1752599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3016" y="1638299"/>
            <a:ext cx="23907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DETECTION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1530" y="1981199"/>
            <a:ext cx="1838279" cy="5715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561820" y="22009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72025" y="20954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6798" y="2133599"/>
            <a:ext cx="476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Orbitron"/>
                <a:rFonts ascii="Orbitron" hAnsi="Orbitron" eastAsia="Orbitron" cs="Orbitro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4917" y="2095499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Check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4917" y="2286000"/>
            <a:ext cx="10667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Verify hands found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34106" y="1981199"/>
            <a:ext cx="1838279" cy="571500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7514396" y="22009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4601" y="20954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0799" y="2133599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D0FE"/>
                </a:solidFill>
                <a:latin typeface="Orbitron"/>
                <a:rFonts ascii="Orbitron" hAnsi="Orbitron" eastAsia="Orbitron" cs="Orbitron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493" y="2095499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Iterate Hands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493" y="2286000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Process each hand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86682" y="1981199"/>
            <a:ext cx="1838279" cy="571500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9466972" y="22009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77178" y="20954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3376" y="2133599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ED7AA"/>
                </a:solidFill>
                <a:latin typeface="Orbitron"/>
                <a:rFonts ascii="Orbitron" hAnsi="Orbitron" eastAsia="Orbitron" cs="Orbitron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0069" y="2095499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Draw Skeleton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0069" y="2286000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Visualize 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81530" y="2705099"/>
            <a:ext cx="5743431" cy="2686050"/>
          </a:xfrm>
          <a:prstGeom prst="roundRect">
            <a:avLst>
              <a:gd name="adj" fmla="val 567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91055" y="2724150"/>
            <a:ext cx="5724381" cy="2667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81530" y="5505450"/>
            <a:ext cx="5743431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05352" y="5697486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52996" y="5638799"/>
            <a:ext cx="46766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Tip: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67E8F9"/>
                </a:solidFill>
                <a:latin typeface="JetBrains Mono"/>
                <a:rFonts ascii="JetBrains Mono" hAnsi="JetBrains Mono" eastAsia="JetBrains Mono" cs="JetBrains Mono"/>
              </a:rPr>
              <a:t>HAND_CONNECTIONS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defines how landmarks connect to form skeleton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82770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IMPORTANT MEDIAPIPE 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219200"/>
            <a:ext cx="5200519" cy="5238749"/>
          </a:xfrm>
          <a:prstGeom prst="roundRect">
            <a:avLst>
              <a:gd name="adj" fmla="val 2930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258" y="1219200"/>
            <a:ext cx="5181470" cy="504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41362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446" y="1333500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Hands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852" y="3829050"/>
            <a:ext cx="4724281" cy="154305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773" y="40005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7E8F9"/>
                </a:solidFill>
                <a:latin typeface="JetBrains Mono"/>
                <a:rFonts ascii="JetBrains Mono" hAnsi="JetBrains Mono" eastAsia="JetBrains Mono" cs="JetBrains Mono"/>
              </a:rPr>
              <a:t>Parameter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1210" y="40005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7E8F9"/>
                </a:solidFill>
                <a:latin typeface="JetBrains Mono"/>
                <a:rFonts ascii="JetBrains Mono" hAnsi="JetBrains Mono" eastAsia="JetBrains Mono" cs="JetBrains Mono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172" y="40005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7E8F9"/>
                </a:solidFill>
                <a:latin typeface="JetBrains Mono"/>
                <a:rFonts ascii="JetBrains Mono" hAnsi="JetBrains Mono" eastAsia="JetBrains Mono" cs="JetBrains Mono"/>
              </a:rPr>
              <a:t>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73" y="43434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min_detection_confidence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1210" y="43434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5172" y="43434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float (0-1)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773" y="46863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min_tracking_confidence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1210" y="46863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172" y="46863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float (0-1)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773" y="50292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max_num_hands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1210" y="50292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5172" y="50292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1" y="1866899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5927" y="1733550"/>
            <a:ext cx="23526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PARAMETER 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4441" y="2190749"/>
            <a:ext cx="5200519" cy="11430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818981" y="269620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53036" y="23431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3" y="2484596"/>
            <a:ext cx="228594" cy="1743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62620" y="2343150"/>
            <a:ext cx="42099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min_detection_confidence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2620" y="2686050"/>
            <a:ext cx="42099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Minimum confidence threshold for initial hand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2620" y="2990849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Inter"/>
                <a:rFonts ascii="Inter" hAnsi="Inter" eastAsia="Inter" cs="Inter"/>
              </a:rPr>
              <a:t>Range: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958" y="2990849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0.0 - 1.0 (Default: 0.5)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4441" y="3486150"/>
            <a:ext cx="5200519" cy="1143000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818981" y="3991610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53036" y="36385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3" y="3769995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62620" y="3638550"/>
            <a:ext cx="42099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min_tracking_confidence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2620" y="3981449"/>
            <a:ext cx="42099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Confidence threshold for tracking detected hands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2620" y="4286250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0ABFC"/>
                </a:solidFill>
                <a:latin typeface="Inter"/>
                <a:rFonts ascii="Inter" hAnsi="Inter" eastAsia="Inter" cs="Inter"/>
              </a:rPr>
              <a:t>Range: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6958" y="4286250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0.0 - 1.0 (Default: 0.5)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4441" y="4781549"/>
            <a:ext cx="5200519" cy="1143000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818981" y="528700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53036" y="49339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67333" y="5011102"/>
            <a:ext cx="228594" cy="30289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162620" y="4933950"/>
            <a:ext cx="42099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max_num_hands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2620" y="5276850"/>
            <a:ext cx="42099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Maximum number of hands to detect simultaneously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62620" y="5581649"/>
            <a:ext cx="4952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DBA74"/>
                </a:solidFill>
                <a:latin typeface="Inter"/>
                <a:rFonts ascii="Inter" hAnsi="Inter" eastAsia="Inter" cs="Inter"/>
              </a:rPr>
              <a:t>Default: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34106" y="5581649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1 (Set to 2 for both hands)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575295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PARAMETERS EXPLAINED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762125"/>
            <a:ext cx="5667233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1976157"/>
            <a:ext cx="190495" cy="1624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1545" y="1924049"/>
            <a:ext cx="8572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Inter"/>
                <a:rFonts ascii="Inter" hAnsi="Inter" eastAsia="Inter" cs="Inter"/>
              </a:rPr>
              <a:t>Parameter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85982" y="1976157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52676" y="1924049"/>
            <a:ext cx="7238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Inter"/>
                <a:rFonts ascii="Inter" hAnsi="Inter" eastAsia="Inter" cs="Inter"/>
              </a:rPr>
              <a:t>Meaning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67113" y="2043423"/>
            <a:ext cx="190495" cy="279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3806" y="1924049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Inter"/>
                <a:rFonts ascii="Inter" hAnsi="Inter" eastAsia="Inter" cs="Inter"/>
              </a:rPr>
              <a:t>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2352675"/>
            <a:ext cx="5667233" cy="2314575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852" y="2505074"/>
            <a:ext cx="162873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min_detection_confidence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982" y="2505074"/>
            <a:ext cx="162873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Minimum confidence to detect 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113" y="2600325"/>
            <a:ext cx="3238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7153" y="2638425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(50%)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52" y="3276599"/>
            <a:ext cx="162873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min_tracking_confidence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982" y="3276599"/>
            <a:ext cx="162873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Confidence to track hand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7113" y="3371850"/>
            <a:ext cx="3238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7153" y="3409950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(50%)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52" y="4048124"/>
            <a:ext cx="162873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max_num_hands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5982" y="4048124"/>
            <a:ext cx="162873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Maximum hands 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7113" y="4143375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6182" y="4181474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(Both hands)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895849"/>
            <a:ext cx="5667233" cy="1009649"/>
          </a:xfrm>
          <a:prstGeom prst="roundRect">
            <a:avLst>
              <a:gd name="adj" fmla="val 15094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6753" y="5179449"/>
            <a:ext cx="171445" cy="9955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4397" y="5133975"/>
            <a:ext cx="18478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Inter"/>
                <a:rFonts ascii="Inter" hAnsi="Inter" eastAsia="Inter" cs="Inter"/>
              </a:rPr>
              <a:t>Dual Hand Tracking Example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3551" y="1857375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5037" y="173355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USAGE GUIDE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3551" y="2190749"/>
            <a:ext cx="4581410" cy="11430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438091" y="269620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172145" y="2446496"/>
            <a:ext cx="228594" cy="1743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515037" y="2343150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Detection 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5037" y="2686050"/>
            <a:ext cx="2819329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Lower value = more sensitive detection</a:t>
            </a:r>
            <a:r>
              <a:rPr sz="1104"/>
              <a:t>
</a:t>
            </a: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Higher value = fewer false positives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3551" y="3486150"/>
            <a:ext cx="4581410" cy="1143000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438091" y="3991610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172145" y="373189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15037" y="3638550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Tracking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5037" y="3981449"/>
            <a:ext cx="2571685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Controls tracking stability</a:t>
            </a:r>
            <a:r>
              <a:rPr sz="1104"/>
              <a:t>
</a:t>
            </a: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Higher value = more stable tracking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3551" y="4781549"/>
            <a:ext cx="4581410" cy="1162050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6428566" y="5296534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172145" y="4973002"/>
            <a:ext cx="228594" cy="30289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515037" y="4933950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Max Hands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5037" y="5276850"/>
            <a:ext cx="2171645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Set to </a:t>
            </a:r>
            <a:r>
              <a:rPr sz="956" b="1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1</a:t>
            </a: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for single hand</a:t>
            </a:r>
            <a:r>
              <a:rPr sz="1104"/>
              <a:t>
</a:t>
            </a: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Set to </a:t>
            </a:r>
            <a:r>
              <a:rPr sz="956" b="1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2</a:t>
            </a: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for dual hand tracking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533900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0424"/>
            <a:ext cx="342891" cy="319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786745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GETTING LANDMARK COORDINATES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190625"/>
            <a:ext cx="5667233" cy="6010274"/>
          </a:xfrm>
          <a:prstGeom prst="roundRect">
            <a:avLst>
              <a:gd name="adj" fmla="val 2689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258" y="1200150"/>
            <a:ext cx="5648183" cy="504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3945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446" y="1314450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Coordinate 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3551" y="1809749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5037" y="1685925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COORDINATE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3551" y="2143125"/>
            <a:ext cx="4581410" cy="11049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457141" y="2629535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72145" y="22955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541" y="2390774"/>
            <a:ext cx="1523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730" y="2295525"/>
            <a:ext cx="35908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Horizontal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730" y="2600325"/>
            <a:ext cx="35908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Normalized 0.0 - 1.0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730" y="2905124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Inter"/>
                <a:rFonts ascii="Inter" hAnsi="Inter" eastAsia="Inter" cs="Inter"/>
              </a:rPr>
              <a:t>Formula: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0839" y="2905124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pixel_x = lm.x * width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3551" y="3400425"/>
            <a:ext cx="4581410" cy="1104900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457141" y="3886835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72145" y="35528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541" y="3648074"/>
            <a:ext cx="1523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730" y="3552825"/>
            <a:ext cx="35908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Vertical 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730" y="3857625"/>
            <a:ext cx="35908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Normalized 0.0 - 1.0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1730" y="4162424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0ABFC"/>
                </a:solidFill>
                <a:latin typeface="Inter"/>
                <a:rFonts ascii="Inter" hAnsi="Inter" eastAsia="Inter" cs="Inter"/>
              </a:rPr>
              <a:t>Formula: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0839" y="4162424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pixel_y = lm.y * height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3551" y="4657725"/>
            <a:ext cx="4581410" cy="1104900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457141" y="5144135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72145" y="4810124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24541" y="4905375"/>
            <a:ext cx="1523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1730" y="4810124"/>
            <a:ext cx="35908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Depth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730" y="5114925"/>
            <a:ext cx="35908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Relative depth from camera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81730" y="5419725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DBA74"/>
                </a:solidFill>
                <a:latin typeface="Inter"/>
                <a:rFonts ascii="Inter" hAnsi="Inter" eastAsia="Inter" cs="Inter"/>
              </a:rPr>
              <a:t>Formula: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0839" y="5419725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pixel_z = lm.z * width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3551" y="5953124"/>
            <a:ext cx="4581410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105472" y="618620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10264" y="6115050"/>
            <a:ext cx="395277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Note: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All coordinates are normalized between 0-1, multiplied by frame dimensions to get pixel values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75438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69626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RESULTS OBJECT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162050"/>
            <a:ext cx="5200519" cy="5334000"/>
          </a:xfrm>
          <a:prstGeom prst="roundRect">
            <a:avLst>
              <a:gd name="adj" fmla="val 2930"/>
            </a:avLst>
          </a:prstGeom>
          <a:solidFill>
            <a:srgbClr val="000000">
              <a:alpha val="3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1467410"/>
            <a:ext cx="190495" cy="151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1545" y="1409699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results Object Hierarchy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852" y="1866899"/>
            <a:ext cx="4724281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66773" y="2006413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565" y="1962149"/>
            <a:ext cx="638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4021" y="1981199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Result Object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3446" y="2419349"/>
            <a:ext cx="4495687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95367" y="2562532"/>
            <a:ext cx="171445" cy="1327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81110" y="251460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multi_hand_landmarks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161" y="2533649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Collection of hands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62040" y="2933699"/>
            <a:ext cx="4267093" cy="361950"/>
          </a:xfrm>
          <a:prstGeom prst="roundRect">
            <a:avLst>
              <a:gd name="adj" fmla="val 42105"/>
            </a:avLst>
          </a:prstGeom>
          <a:solidFill>
            <a:srgbClr val="000000">
              <a:alpha val="40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5862" y="3009900"/>
            <a:ext cx="1619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├─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3981" y="3009900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Hand_Landmarks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4597" y="3028950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21 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2040" y="3371850"/>
            <a:ext cx="4267093" cy="361950"/>
          </a:xfrm>
          <a:prstGeom prst="roundRect">
            <a:avLst>
              <a:gd name="adj" fmla="val 42105"/>
            </a:avLst>
          </a:prstGeom>
          <a:solidFill>
            <a:srgbClr val="000000">
              <a:alpha val="40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5862" y="3448049"/>
            <a:ext cx="1619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├─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3981" y="3448049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Hand_Landmarks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4597" y="3467100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21 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62040" y="3809999"/>
            <a:ext cx="4267093" cy="361950"/>
          </a:xfrm>
          <a:prstGeom prst="roundRect">
            <a:avLst>
              <a:gd name="adj" fmla="val 42105"/>
            </a:avLst>
          </a:prstGeom>
          <a:solidFill>
            <a:srgbClr val="000000">
              <a:alpha val="40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85862" y="3886200"/>
            <a:ext cx="1619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└─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3981" y="3886200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Hand_Landmarks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14597" y="3905249"/>
            <a:ext cx="5238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(if visible)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33446" y="4286250"/>
            <a:ext cx="4495687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95367" y="4429432"/>
            <a:ext cx="171445" cy="1327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81110" y="4381499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multi_handedness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2220" y="4400550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Left / Right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33446" y="4838699"/>
            <a:ext cx="4495687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95367" y="4981882"/>
            <a:ext cx="171445" cy="13273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81110" y="4933950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multi_hand_world_landmarks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6598" y="4952999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3D coordinates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4441" y="1562100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5927" y="1428750"/>
            <a:ext cx="26288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STRUCTURE DETAILS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4441" y="1847849"/>
            <a:ext cx="5200519" cy="6858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6047581" y="21247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14937" y="19621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333" y="2019299"/>
            <a:ext cx="666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0224" y="1962149"/>
            <a:ext cx="44004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0224" y="2228850"/>
            <a:ext cx="4400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Main object returned from MediaPipe processing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4441" y="2647949"/>
            <a:ext cx="5200519" cy="685800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6047581" y="29248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14937" y="27622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38759" y="2819399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0224" y="2762249"/>
            <a:ext cx="44004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multi_hand_landmarks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0224" y="3028950"/>
            <a:ext cx="4400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List containing all detected hands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4441" y="3448049"/>
            <a:ext cx="5200519" cy="685800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6047581" y="37249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14937" y="35623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38759" y="3619499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0224" y="3562349"/>
            <a:ext cx="44004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Hand_Landmarks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10224" y="3829050"/>
            <a:ext cx="4400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Each hand contains 21 landmark points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4441" y="4286250"/>
            <a:ext cx="5200519" cy="1057275"/>
          </a:xfrm>
          <a:prstGeom prst="roundRect">
            <a:avLst>
              <a:gd name="adj" fmla="val 14414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86362" y="4531749"/>
            <a:ext cx="171445" cy="9955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34006" y="4486275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Access Example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4441" y="5495924"/>
            <a:ext cx="2543111" cy="742950"/>
          </a:xfrm>
          <a:prstGeom prst="roundRect">
            <a:avLst>
              <a:gd name="adj" fmla="val 2051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8263" y="5619750"/>
            <a:ext cx="22954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8263" y="5962650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Points per Hand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81850" y="5495924"/>
            <a:ext cx="2543111" cy="742950"/>
          </a:xfrm>
          <a:prstGeom prst="roundRect">
            <a:avLst>
              <a:gd name="adj" fmla="val 2051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05672" y="5619750"/>
            <a:ext cx="22954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3D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05672" y="5962650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Coordinates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19524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81459" y="209550"/>
            <a:ext cx="313438" cy="380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69530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ACCESSING HAND LANDMARKS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190625"/>
            <a:ext cx="5667233" cy="2571750"/>
          </a:xfrm>
          <a:prstGeom prst="roundRect">
            <a:avLst>
              <a:gd name="adj" fmla="val 5925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6753" y="1390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575" y="1447800"/>
            <a:ext cx="476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42" y="1428750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Iterate Through Detected Hands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914775"/>
            <a:ext cx="5667233" cy="2571750"/>
          </a:xfrm>
          <a:prstGeom prst="roundRect">
            <a:avLst>
              <a:gd name="adj" fmla="val 5925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6753" y="41148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E879F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2000" y="4171950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5842" y="4152899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5D0FE"/>
                </a:solidFill>
                <a:latin typeface="JetBrains Mono"/>
                <a:rFonts ascii="JetBrains Mono" hAnsi="JetBrains Mono" eastAsia="JetBrains Mono" cs="JetBrains Mono"/>
              </a:rPr>
              <a:t>Draw Hand Skeleton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3551" y="1895474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5037" y="1762125"/>
            <a:ext cx="19430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PROCESS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3551" y="2219324"/>
            <a:ext cx="4581410" cy="8382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590491" y="25723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72145" y="23717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267393" y="2508997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67433" y="2371725"/>
            <a:ext cx="37051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Filter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7433" y="2676524"/>
            <a:ext cx="37051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Check if hands were 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3551" y="3171825"/>
            <a:ext cx="4581410" cy="838200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590491" y="35248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72145" y="33242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67393" y="3425077"/>
            <a:ext cx="190495" cy="1792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67433" y="3324225"/>
            <a:ext cx="37051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Loop Through Hands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7433" y="3629025"/>
            <a:ext cx="37051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Process each detected hand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3551" y="4124324"/>
            <a:ext cx="4581410" cy="838200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590491" y="44773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72145" y="42767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67393" y="4391585"/>
            <a:ext cx="190495" cy="1512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67433" y="4276725"/>
            <a:ext cx="37051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Draw Skeleton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7433" y="4581524"/>
            <a:ext cx="37051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Visualize landmarks and connections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3551" y="5153024"/>
            <a:ext cx="4581410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105472" y="53861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10264" y="5314950"/>
            <a:ext cx="395277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Tip: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67E8F9"/>
                </a:solidFill>
                <a:latin typeface="JetBrains Mono"/>
                <a:rFonts ascii="JetBrains Mono" hAnsi="JetBrains Mono" eastAsia="JetBrains Mono" cs="JetBrains Mono"/>
              </a:rPr>
              <a:t>HAND_CONNECTIONS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defines how landmarks are connected to form the hand skeleton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29425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8576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COORDINATE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2171700"/>
            <a:ext cx="457188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19" y="2047874"/>
            <a:ext cx="22097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3D COORDINATES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33" y="2505074"/>
            <a:ext cx="5200519" cy="647699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08924" y="276288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26384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25" y="2695575"/>
            <a:ext cx="1523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16" y="2619374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Horizontal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16" y="2847974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Left to 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9054" y="2619374"/>
            <a:ext cx="9239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Normalized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9054" y="2771775"/>
            <a:ext cx="9239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JetBrains Mono"/>
                <a:rFonts ascii="JetBrains Mono" hAnsi="JetBrains Mono" eastAsia="JetBrains Mono" cs="JetBrains Mono"/>
              </a:rPr>
              <a:t>0.0 - 1.0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733" y="3267075"/>
            <a:ext cx="5200519" cy="647699"/>
          </a:xfrm>
          <a:prstGeom prst="rect">
            <a:avLst/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352488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228" y="34004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525" y="3457575"/>
            <a:ext cx="1523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2516" y="3381375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Vertical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2516" y="3609975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Top to Bottom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9054" y="3381375"/>
            <a:ext cx="9239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Normalized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9054" y="3533774"/>
            <a:ext cx="9239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0ABFC"/>
                </a:solidFill>
                <a:latin typeface="JetBrains Mono"/>
                <a:rFonts ascii="JetBrains Mono" hAnsi="JetBrains Mono" eastAsia="JetBrains Mono" cs="JetBrains Mono"/>
              </a:rPr>
              <a:t>0.0 - 1.0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33" y="4029075"/>
            <a:ext cx="5200519" cy="647699"/>
          </a:xfrm>
          <a:prstGeom prst="rect">
            <a:avLst/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408924" y="428688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7228" y="416242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525" y="4219575"/>
            <a:ext cx="1523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2516" y="4143375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Depth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2516" y="4371975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Near to Far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074" y="4143375"/>
            <a:ext cx="7238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JetBrains Mono"/>
                <a:rFonts ascii="JetBrains Mono" hAnsi="JetBrains Mono" eastAsia="JetBrains Mono" cs="JetBrains Mono"/>
              </a:rPr>
              <a:t>Relative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074" y="4295774"/>
            <a:ext cx="7238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± Depth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33" y="4867274"/>
            <a:ext cx="5200519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8654" y="510035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33446" y="5029200"/>
            <a:ext cx="457188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Z Depth: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Negative values = near camera, Positive values = away from camera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4441" y="1666874"/>
            <a:ext cx="5200519" cy="2362199"/>
          </a:xfrm>
          <a:prstGeom prst="roundRect">
            <a:avLst>
              <a:gd name="adj" fmla="val 6451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24461" y="1950474"/>
            <a:ext cx="171445" cy="9955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72105" y="188595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Conversion to Pixels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4441" y="4190999"/>
            <a:ext cx="2543111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86362" y="4417141"/>
            <a:ext cx="171445" cy="13826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34006" y="4391025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Frame Shape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6362" y="4695824"/>
            <a:ext cx="22192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1D5DB"/>
                </a:solidFill>
                <a:latin typeface="JetBrains Mono"/>
                <a:rFonts ascii="JetBrains Mono" hAnsi="JetBrains Mono" eastAsia="JetBrains Mono" cs="JetBrains Mono"/>
              </a:rPr>
              <a:t>height × width × channels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6362" y="4924424"/>
            <a:ext cx="22192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1">
                <a:solidFill>
                  <a:srgbClr val="67E8F9"/>
                </a:solidFill>
                <a:latin typeface="JetBrains Mono"/>
                <a:rFonts ascii="JetBrains Mono" hAnsi="JetBrains Mono" eastAsia="JetBrains Mono" cs="JetBrains Mono"/>
              </a:rPr>
              <a:t>h, w, 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81850" y="4190999"/>
            <a:ext cx="2543111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43771" y="4436499"/>
            <a:ext cx="171445" cy="9955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391415" y="4391025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3771" y="4695824"/>
            <a:ext cx="22192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Normalized coordinates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3771" y="4924424"/>
            <a:ext cx="22192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1">
                <a:solidFill>
                  <a:srgbClr val="F0ABFC"/>
                </a:solidFill>
                <a:latin typeface="JetBrains Mono"/>
                <a:rFonts ascii="JetBrains Mono" hAnsi="JetBrains Mono" eastAsia="JetBrains Mono" cs="JetBrains Mono"/>
              </a:rPr>
              <a:t>0.0 - 1.0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1135" y="5467349"/>
            <a:ext cx="94295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2D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1135" y="5848350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Pixel Coordinates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7473" y="5505450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10384" y="5467349"/>
            <a:ext cx="97152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3D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10384" y="5848350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Depth Information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15297" y="5505450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58208" y="5467349"/>
            <a:ext cx="6000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B923C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8208" y="5848350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Landmarks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641968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PRINT LANDMARK POSITIONS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29554" y="190499"/>
            <a:ext cx="1695407" cy="409574"/>
          </a:xfrm>
          <a:prstGeom prst="roundRect">
            <a:avLst>
              <a:gd name="adj" fmla="val 37209"/>
            </a:avLst>
          </a:prstGeom>
          <a:solidFill>
            <a:srgbClr val="E879F9">
              <a:alpha val="20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1475" y="304800"/>
            <a:ext cx="137156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0ABFC"/>
                </a:solidFill>
                <a:latin typeface="JetBrains Mono"/>
                <a:rFonts ascii="JetBrains Mono" hAnsi="JetBrains Mono" eastAsia="JetBrains Mono" cs="JetBrains Mono"/>
              </a:rPr>
              <a:t>D2_Landmarks.py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10858228" cy="6086475"/>
          </a:xfrm>
          <a:prstGeom prst="roundRect">
            <a:avLst>
              <a:gd name="adj" fmla="val 2503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258" y="1047749"/>
            <a:ext cx="10839179" cy="428625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207524"/>
            <a:ext cx="171445" cy="995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397" y="1162050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Complete Hand Landmark Printer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29654" y="1200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020149" y="1200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10644" y="1200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9052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CODE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038224"/>
            <a:ext cx="2628834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0555" y="11620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01" y="1200150"/>
            <a:ext cx="666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09644" y="1252257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55" y="1581149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Initialize MediaPipe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55" y="1847849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Setup hands and drawing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864" y="1038224"/>
            <a:ext cx="2628834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3686" y="11620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8459" y="1200150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2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952776" y="1280272"/>
            <a:ext cx="190495" cy="1064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33686" y="1581149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Capture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3686" y="1847849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Open webcam stream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2996" y="1038224"/>
            <a:ext cx="2628834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6818" y="11620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1590" y="1200150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3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125225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76818" y="1581149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Convert Colors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6818" y="1847849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BGR to RGB 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6127" y="1038224"/>
            <a:ext cx="2628834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19949" y="11620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4721" y="1200150"/>
            <a:ext cx="1238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4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39039" y="12522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19949" y="1581149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Detect Hands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9949" y="1847849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Process frame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2314575"/>
            <a:ext cx="3543211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0555" y="243840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5327" y="2476499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209644" y="2520202"/>
            <a:ext cx="190495" cy="17929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90555" y="2857500"/>
            <a:ext cx="32955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Loop Through Hands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555" y="3124200"/>
            <a:ext cx="32955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Iterate each detected hand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4241" y="2314575"/>
            <a:ext cx="3543211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48063" y="243840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2836" y="2476499"/>
            <a:ext cx="1428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6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67153" y="2528607"/>
            <a:ext cx="190495" cy="1624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448063" y="2857500"/>
            <a:ext cx="32955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Extract Coordinates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8063" y="3124200"/>
            <a:ext cx="32955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Get x, y, z for each landmark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81750" y="2314575"/>
            <a:ext cx="3543211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05572" y="243840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9869" y="2476499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7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24661" y="2534210"/>
            <a:ext cx="190495" cy="15127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105572" y="2857500"/>
            <a:ext cx="32955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Print 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5572" y="3124200"/>
            <a:ext cx="32955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Display coordinates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6733" y="3590924"/>
            <a:ext cx="10858228" cy="3038475"/>
          </a:xfrm>
          <a:prstGeom prst="roundRect">
            <a:avLst>
              <a:gd name="adj" fmla="val 5015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8654" y="3836424"/>
            <a:ext cx="171445" cy="9955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76298" y="3790949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Key Code Snippets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94689" y="209550"/>
            <a:ext cx="286979" cy="380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589582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HIGHLIGHTING FINGER TIPS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00200"/>
            <a:ext cx="5743431" cy="3495675"/>
          </a:xfrm>
          <a:prstGeom prst="roundRect">
            <a:avLst>
              <a:gd name="adj" fmla="val 4359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883799"/>
            <a:ext cx="171445" cy="99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4397" y="1838324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D3_FingerTips.py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5248275"/>
            <a:ext cx="1057248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555" y="5372100"/>
            <a:ext cx="8096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55" y="5753099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Thumb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8279" y="5248275"/>
            <a:ext cx="1057248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2100" y="5372100"/>
            <a:ext cx="8096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2100" y="5753099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9824" y="5248275"/>
            <a:ext cx="1057248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3646" y="5372100"/>
            <a:ext cx="8096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3646" y="5753099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Middle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81370" y="5248275"/>
            <a:ext cx="1057248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5192" y="5372100"/>
            <a:ext cx="8096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5192" y="5753099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52916" y="5248275"/>
            <a:ext cx="1057248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6738" y="5372100"/>
            <a:ext cx="8096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6738" y="5753099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Little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67353" y="1428750"/>
            <a:ext cx="4657608" cy="11430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361893" y="1934210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95947" y="167449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38839" y="1581149"/>
            <a:ext cx="39337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What This Does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8839" y="1924049"/>
            <a:ext cx="3933726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Highlights all 5 fingertip landmarks with green circles on the video feed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67353" y="2724150"/>
            <a:ext cx="4657608" cy="1638299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6114244" y="34772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095947" y="29698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38839" y="287654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Common Use Cases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8839" y="3219449"/>
            <a:ext cx="1666833" cy="9905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• Gesture recognition</a:t>
            </a:r>
            <a:r>
              <a:rPr sz="1104"/>
              <a:t>
</a:t>
            </a: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• Touch detection</a:t>
            </a:r>
            <a:r>
              <a:rPr sz="1104"/>
              <a:t>
</a:t>
            </a: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• Finger tracking</a:t>
            </a:r>
            <a:r>
              <a:rPr sz="1104"/>
              <a:t>
</a:t>
            </a:r>
            <a:r>
              <a:rPr sz="95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• Hand pose analysis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67353" y="4514850"/>
            <a:ext cx="4657608" cy="990599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438094" y="494410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95947" y="4760595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38839" y="4667249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Visual Indicator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8839" y="50292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57928" y="5010149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Green circle on fingertips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57928" y="5200650"/>
            <a:ext cx="1600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Radius: 10 pixels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5472" y="5695949"/>
            <a:ext cx="60958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5472" y="6076950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Finger Tips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0819" y="5734050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96107" y="5695949"/>
            <a:ext cx="89532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96107" y="6076950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Total Landmarks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77198" y="5734050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72485" y="5695949"/>
            <a:ext cx="71435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B923C"/>
                </a:solidFill>
                <a:latin typeface="Orbitron"/>
                <a:rFonts ascii="Orbitron" hAnsi="Orbitron" eastAsia="Orbitron" cs="Orbitron"/>
              </a:rPr>
              <a:t>BGR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72485" y="6076950"/>
            <a:ext cx="7143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Color Format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94689" y="209550"/>
            <a:ext cx="286979" cy="380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40670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FINGER TIPS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4306" y="190499"/>
            <a:ext cx="1790655" cy="409574"/>
          </a:xfrm>
          <a:prstGeom prst="roundRect">
            <a:avLst>
              <a:gd name="adj" fmla="val 37209"/>
            </a:avLst>
          </a:prstGeom>
          <a:solidFill>
            <a:srgbClr val="FB923C">
              <a:alpha val="20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6227" y="304800"/>
            <a:ext cx="14668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DBA74"/>
                </a:solidFill>
                <a:latin typeface="JetBrains Mono"/>
                <a:rFonts ascii="JetBrains Mono" hAnsi="JetBrains Mono" eastAsia="JetBrains Mono" cs="JetBrains Mono"/>
              </a:rPr>
              <a:t>D3_FingerTips.py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743431" cy="5924549"/>
          </a:xfrm>
          <a:prstGeom prst="roundRect">
            <a:avLst>
              <a:gd name="adj" fmla="val 2653"/>
            </a:avLst>
          </a:prstGeom>
          <a:solidFill>
            <a:srgbClr val="000000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258" y="1047749"/>
            <a:ext cx="5724381" cy="428625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E879F9"/>
              </a:gs>
            </a:gsLst>
            <a:lin scaled="0" ang="108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207524"/>
            <a:ext cx="171445" cy="995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397" y="1162050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A5F3FC"/>
                </a:solidFill>
                <a:latin typeface="JetBrains Mono"/>
                <a:rFonts ascii="JetBrains Mono" hAnsi="JetBrains Mono" eastAsia="JetBrains Mono" cs="JetBrains Mono"/>
              </a:rPr>
              <a:t>Highlight Finger Tips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4857" y="1200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5352" y="1200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5847" y="1200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67353" y="1647825"/>
            <a:ext cx="4657608" cy="1809749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29274" y="1878666"/>
            <a:ext cx="190495" cy="1288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95967" y="1828800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Expected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9274" y="2152650"/>
            <a:ext cx="4333766" cy="114300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72285" y="2514600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38979" y="2514600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5672" y="2514600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72365" y="2514600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39059" y="2514600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3216" y="2781300"/>
            <a:ext cx="16763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Green circles on all 5 fingertips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67353" y="3609975"/>
            <a:ext cx="866753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3076" y="3695699"/>
            <a:ext cx="69530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3076" y="4000500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Thumb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0304" y="3609975"/>
            <a:ext cx="866753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6027" y="3695699"/>
            <a:ext cx="69530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6027" y="4000500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Index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62780" y="3609975"/>
            <a:ext cx="866753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48503" y="3695699"/>
            <a:ext cx="69530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DBA74"/>
                </a:solidFill>
                <a:latin typeface="Orbitron"/>
                <a:rFonts ascii="Orbitron" hAnsi="Orbitron" eastAsia="Orbitron" cs="Orbitron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8503" y="4000500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Middle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05732" y="3609975"/>
            <a:ext cx="866753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91455" y="3695699"/>
            <a:ext cx="69530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1455" y="4000500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58208" y="3609975"/>
            <a:ext cx="866753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3931" y="3695699"/>
            <a:ext cx="69530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0ABFC"/>
                </a:solidFill>
                <a:latin typeface="Orbitron"/>
                <a:rFonts ascii="Orbitron" hAnsi="Orbitron" eastAsia="Orbitron" cs="Orbitron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3931" y="4000500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Little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67353" y="4352924"/>
            <a:ext cx="4657608" cy="400050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953076" y="4512128"/>
            <a:ext cx="152396" cy="8164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181670" y="4476750"/>
            <a:ext cx="17144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tips = [4, 8, 12, 16, 20]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67353" y="4829175"/>
            <a:ext cx="4657608" cy="400050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953076" y="4963885"/>
            <a:ext cx="152396" cy="1306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181670" y="4952999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if idx in tips: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67353" y="5305425"/>
            <a:ext cx="4657608" cy="400050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953076" y="5440135"/>
            <a:ext cx="152396" cy="1306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181670" y="5429250"/>
            <a:ext cx="23335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cv2.circle(..., 10, (0,255,0), -1)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10244" y="5857875"/>
            <a:ext cx="2285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10244" y="6200775"/>
            <a:ext cx="2285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Tips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43671" y="5915025"/>
            <a:ext cx="9524" cy="380999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48503" y="5857875"/>
            <a:ext cx="3619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48503" y="6200775"/>
            <a:ext cx="3619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Radius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05752" y="5915025"/>
            <a:ext cx="9524" cy="380999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10584" y="5857875"/>
            <a:ext cx="57148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923C"/>
                </a:solidFill>
                <a:latin typeface="Orbitron"/>
                <a:rFonts ascii="Orbitron" hAnsi="Orbitron" eastAsia="Orbitron" cs="Orbitron"/>
              </a:rPr>
              <a:t>BGR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10584" y="6200775"/>
            <a:ext cx="57148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Green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6682"/>
            <a:ext cx="342891" cy="2867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591487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PRACTICAL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828800"/>
            <a:ext cx="2819329" cy="1009649"/>
          </a:xfrm>
          <a:prstGeom prst="roundRect">
            <a:avLst>
              <a:gd name="adj" fmla="val 15094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8654" y="19811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16931"/>
            <a:ext cx="228594" cy="1857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0139" y="1981199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Gesture Robotics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139" y="2286000"/>
            <a:ext cx="192400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Control robotic hands with gestures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359" y="1828800"/>
            <a:ext cx="2819329" cy="1009649"/>
          </a:xfrm>
          <a:prstGeom prst="roundRect">
            <a:avLst>
              <a:gd name="adj" fmla="val 15094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2756" y="19811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67053" y="211264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24241" y="1981199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AR/VR 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4241" y="2286000"/>
            <a:ext cx="192400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Natural hand interaction in virtual worlds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952750"/>
            <a:ext cx="2819329" cy="1009649"/>
          </a:xfrm>
          <a:prstGeom prst="roundRect">
            <a:avLst>
              <a:gd name="adj" fmla="val 15094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654" y="31051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3182302"/>
            <a:ext cx="228594" cy="3028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0139" y="3105149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Sign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0139" y="3409950"/>
            <a:ext cx="192400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Translate sign language to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359" y="2952750"/>
            <a:ext cx="2819329" cy="1009649"/>
          </a:xfrm>
          <a:prstGeom prst="roundRect">
            <a:avLst>
              <a:gd name="adj" fmla="val 15094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52756" y="31051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867053" y="3262312"/>
            <a:ext cx="228594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24241" y="3105149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Gaming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4241" y="3409950"/>
            <a:ext cx="192400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Motion-based gaming interfaces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076699"/>
            <a:ext cx="2819329" cy="1009649"/>
          </a:xfrm>
          <a:prstGeom prst="roundRect">
            <a:avLst>
              <a:gd name="adj" fmla="val 15094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8654" y="42291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879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4359116"/>
            <a:ext cx="228594" cy="19716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00139" y="4229100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Medical Apps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0139" y="4533900"/>
            <a:ext cx="192400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Rehabilitation and therapy tracking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0359" y="4076699"/>
            <a:ext cx="2819329" cy="1009649"/>
          </a:xfrm>
          <a:prstGeom prst="roundRect">
            <a:avLst>
              <a:gd name="adj" fmla="val 15094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752756" y="42291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867053" y="4371975"/>
            <a:ext cx="228594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324241" y="4229100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Smart Home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4241" y="4533900"/>
            <a:ext cx="192400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Gesture-based automation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000" y="5276850"/>
            <a:ext cx="84770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60+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000" y="5695949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FPS Processing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00239" y="5334000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00299" y="5276850"/>
            <a:ext cx="90485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00299" y="5695949"/>
            <a:ext cx="9048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Landmark Points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6162" y="5334000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6222" y="5276850"/>
            <a:ext cx="102867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B923C"/>
                </a:solidFill>
                <a:latin typeface="Orbitron"/>
                <a:rFonts ascii="Orbitron" hAnsi="Orbitron" eastAsia="Orbitron" cs="Orbitron"/>
              </a:rPr>
              <a:t>3D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6222" y="5695949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Coordinate System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67353" y="1238249"/>
            <a:ext cx="4657608" cy="3257550"/>
          </a:xfrm>
          <a:prstGeom prst="roundRect">
            <a:avLst>
              <a:gd name="adj" fmla="val 467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76878" y="1238249"/>
            <a:ext cx="4638559" cy="32385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67353" y="4648200"/>
            <a:ext cx="4657608" cy="17907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038043" y="5477510"/>
            <a:ext cx="1790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095947" y="4893945"/>
            <a:ext cx="228594" cy="19430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438839" y="4800600"/>
            <a:ext cx="22954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Key Advantages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38839" y="5192485"/>
            <a:ext cx="152396" cy="13062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667433" y="5162550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Real-time processing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38839" y="5497285"/>
            <a:ext cx="152396" cy="1306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667433" y="5467349"/>
            <a:ext cx="20668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 specialized hardware needed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38839" y="5802085"/>
            <a:ext cx="152396" cy="1306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67433" y="577215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Cross-platform compatibility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38839" y="6106885"/>
            <a:ext cx="152396" cy="1306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67433" y="6076950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High accuracy detection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186" y="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809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20" y="114300"/>
            <a:ext cx="726739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BEST PRACTICES &amp;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33" y="1190625"/>
            <a:ext cx="457188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19" y="1114425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TIPS FOR SUCCESS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33" y="1457325"/>
            <a:ext cx="5276718" cy="6858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89873" y="1734185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65449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571625"/>
            <a:ext cx="29050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Optimize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19" y="1838324"/>
            <a:ext cx="29050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Adjust detection confidence for your use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33" y="2257425"/>
            <a:ext cx="5276718" cy="695325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85111" y="2539047"/>
            <a:ext cx="695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391727"/>
            <a:ext cx="228594" cy="3028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0119" y="2371725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Handle Multiple Hands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2638425"/>
            <a:ext cx="215259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Set </a:t>
            </a:r>
            <a:r>
              <a:rPr sz="837" b="0">
                <a:solidFill>
                  <a:srgbClr val="F0ABFC"/>
                </a:solidFill>
                <a:latin typeface="SFMono-Regular"/>
                <a:rFonts ascii="SFMono-Regular" hAnsi="SFMono-Regular" eastAsia="SFMono-Regular" cs="SFMono-Regular"/>
              </a:rPr>
              <a:t>max_num_hands</a:t>
            </a: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appropriately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33" y="3067050"/>
            <a:ext cx="5276718" cy="6858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89873" y="334391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3322982"/>
            <a:ext cx="228594" cy="596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00119" y="3181350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Use Z-Coordinate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19" y="3448049"/>
            <a:ext cx="20478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Enable depth-based interactions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733" y="3867149"/>
            <a:ext cx="5276718" cy="6858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89873" y="41440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4044315"/>
            <a:ext cx="228594" cy="2171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00119" y="3981449"/>
            <a:ext cx="27907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Mirror 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119" y="4248150"/>
            <a:ext cx="27907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Flip frame horizontally for natural interaction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733" y="4667249"/>
            <a:ext cx="5276718" cy="6858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89873" y="49441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4871561"/>
            <a:ext cx="228594" cy="1628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0119" y="4781549"/>
            <a:ext cx="28098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0119" y="5048250"/>
            <a:ext cx="28098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Optimize frame size for real-time processing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733" y="5467349"/>
            <a:ext cx="5276718" cy="6858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389873" y="57442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5655944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00119" y="5581649"/>
            <a:ext cx="25431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Lighting Conditions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0119" y="5848350"/>
            <a:ext cx="25431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Ensure good lighting for better detection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8243" y="1190625"/>
            <a:ext cx="457188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9729" y="1114425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879F9"/>
                </a:solidFill>
                <a:latin typeface="Inter"/>
                <a:rFonts ascii="Inter" hAnsi="Inter" eastAsia="Inter" cs="Inter"/>
              </a:rPr>
              <a:t>LEARN MORE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8243" y="1457325"/>
            <a:ext cx="5276718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0164" y="1722372"/>
            <a:ext cx="285742" cy="21285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10204" y="1619250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MediaPipe Documentation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0204" y="1847849"/>
            <a:ext cx="20763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Official guides and API reference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134446" y="1740217"/>
            <a:ext cx="228594" cy="17716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248243" y="2314575"/>
            <a:ext cx="5276718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E879F9"/>
              </a:gs>
              <a:gs pos="100000">
                <a:srgbClr val="C026D3"/>
              </a:gs>
            </a:gsLst>
            <a:lin scaled="0" ang="8100000"/>
          </a:gra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10164" y="2607322"/>
            <a:ext cx="285742" cy="15745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10204" y="2476499"/>
            <a:ext cx="2638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OpenCV Tutorials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0204" y="2705099"/>
            <a:ext cx="26383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Video processing and image manipulation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1134446" y="2597467"/>
            <a:ext cx="228594" cy="177164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248243" y="3171825"/>
            <a:ext cx="5276718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FB923C"/>
              </a:gs>
              <a:gs pos="100000">
                <a:srgbClr val="EA580C"/>
              </a:gs>
            </a:gsLst>
            <a:lin scaled="0" ang="8100000"/>
          </a:gra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0164" y="3464572"/>
            <a:ext cx="285742" cy="15745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810204" y="3333749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GitHub Examples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0204" y="3562349"/>
            <a:ext cx="23621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Sample projects and implementations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134446" y="3454717"/>
            <a:ext cx="228594" cy="177164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248243" y="4029075"/>
            <a:ext cx="5276718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810000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10164" y="4278085"/>
            <a:ext cx="285742" cy="2449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10204" y="4190999"/>
            <a:ext cx="19621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Community Forums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0204" y="4419600"/>
            <a:ext cx="19621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Get help from other developers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134446" y="4311967"/>
            <a:ext cx="228594" cy="17716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572085" y="4962525"/>
            <a:ext cx="6000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Orbitron"/>
                <a:rFonts ascii="Orbitron" hAnsi="Orbitron" eastAsia="Orbitron" cs="Orbitron"/>
              </a:rPr>
              <a:t>21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2085" y="5343525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Landmarks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00779" y="5000625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7988" y="4962525"/>
            <a:ext cx="6000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E879F9"/>
                </a:solidFill>
                <a:latin typeface="Orbitron"/>
                <a:rFonts ascii="Orbitron" hAnsi="Orbitron" eastAsia="Orbitron" cs="Orbitron"/>
              </a:rPr>
              <a:t>60+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7988" y="5343525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FPS Speed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96207" y="5000625"/>
            <a:ext cx="9524" cy="45720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43891" y="4962525"/>
            <a:ext cx="86675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B923C"/>
                </a:solidFill>
                <a:latin typeface="Orbitron"/>
                <a:rFonts ascii="Orbitron" hAnsi="Orbitron" eastAsia="Orbitron" cs="Orbitron"/>
              </a:rPr>
              <a:t>100%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43891" y="5343525"/>
            <a:ext cx="8667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Open Source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0024"/>
            </a:gs>
            <a:gs pos="50000">
              <a:srgbClr val="1F0038"/>
            </a:gs>
            <a:gs pos="100000">
              <a:srgbClr val="420D5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29314" y="0"/>
            <a:ext cx="4762380" cy="4762500"/>
          </a:xfrm>
          <a:prstGeom prst="roundRect">
            <a:avLst>
              <a:gd name="adj" fmla="val 39996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047999"/>
            <a:ext cx="3809904" cy="3809999"/>
          </a:xfrm>
          <a:prstGeom prst="roundRect">
            <a:avLst>
              <a:gd name="adj" fmla="val 4999500"/>
            </a:avLst>
          </a:prstGeom>
          <a:solidFill>
            <a:srgbClr val="D946E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38419" y="571500"/>
            <a:ext cx="5714857" cy="5715000"/>
          </a:xfrm>
          <a:prstGeom prst="roundRect">
            <a:avLst>
              <a:gd name="adj" fmla="val 3333000"/>
            </a:avLst>
          </a:prstGeom>
          <a:solidFill>
            <a:srgbClr val="F9731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71645" y="419100"/>
            <a:ext cx="7838879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7800"/>
              </a:lnSpc>
              <a:spcBef>
                <a:spcPts val="0"/>
              </a:spcBef>
              <a:spcAft>
                <a:spcPts val="1040"/>
              </a:spcAft>
            </a:pPr>
            <a:r>
              <a:rPr sz="7176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262" y="1714500"/>
            <a:ext cx="121916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71645" y="1981199"/>
            <a:ext cx="783887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67E8F9"/>
                </a:solidFill>
                <a:latin typeface="Inter"/>
                <a:rFonts ascii="Inter" hAnsi="Inter" eastAsia="Inter" cs="Inter"/>
              </a:rPr>
              <a:t>Questions &amp;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8994" y="2628900"/>
            <a:ext cx="3724181" cy="819149"/>
          </a:xfrm>
          <a:prstGeom prst="roundRect">
            <a:avLst>
              <a:gd name="adj" fmla="val 2325348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43311" y="2936421"/>
            <a:ext cx="285742" cy="204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1450" y="2790824"/>
            <a:ext cx="26574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Ansik Singh Tomar (Aanshik)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1450" y="3057525"/>
            <a:ext cx="26574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0ABFC"/>
                </a:solidFill>
                <a:latin typeface="Inter"/>
                <a:rFonts ascii="Inter" hAnsi="Inter" eastAsia="Inter" cs="Inter"/>
              </a:rPr>
              <a:t>COORDINATOR - TECHNOCRATS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8023" y="3829050"/>
            <a:ext cx="4095647" cy="8382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3694963" y="41821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314717" y="4104782"/>
            <a:ext cx="342891" cy="2867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10004" y="4095749"/>
            <a:ext cx="310507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Keep Coding, Keep Learning!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5192" y="5048250"/>
            <a:ext cx="666733" cy="742950"/>
          </a:xfrm>
          <a:prstGeom prst="roundRect">
            <a:avLst>
              <a:gd name="adj" fmla="val 2856857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67113" y="5279477"/>
            <a:ext cx="342891" cy="24239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276718" y="5048250"/>
            <a:ext cx="666733" cy="742950"/>
          </a:xfrm>
          <a:prstGeom prst="roundRect">
            <a:avLst>
              <a:gd name="adj" fmla="val 2856857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438639" y="5309037"/>
            <a:ext cx="342891" cy="18327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48243" y="5048250"/>
            <a:ext cx="666733" cy="742950"/>
          </a:xfrm>
          <a:prstGeom prst="roundRect">
            <a:avLst>
              <a:gd name="adj" fmla="val 2856857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0164" y="5320862"/>
            <a:ext cx="342891" cy="15962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219769" y="5048250"/>
            <a:ext cx="666733" cy="742950"/>
          </a:xfrm>
          <a:prstGeom prst="roundRect">
            <a:avLst>
              <a:gd name="adj" fmla="val 2856857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381690" y="5255829"/>
            <a:ext cx="342891" cy="2896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71645" y="6248400"/>
            <a:ext cx="78388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MediaPipe &amp; Computer Vision Workshop • Hand Tracking with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D946EF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