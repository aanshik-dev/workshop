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7.png"/><Relationship Id="rId4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0.png"/><Relationship Id="rId4" Type="http://schemas.openxmlformats.org/officeDocument/2006/relationships/image" Target="../media/image35.png"/><Relationship Id="rId5" Type="http://schemas.openxmlformats.org/officeDocument/2006/relationships/image" Target="../media/image3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26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9.png"/><Relationship Id="rId4" Type="http://schemas.openxmlformats.org/officeDocument/2006/relationships/image" Target="../media/image3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6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61.png"/><Relationship Id="rId4" Type="http://schemas.openxmlformats.org/officeDocument/2006/relationships/image" Target="../media/image6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30.png"/><Relationship Id="rId4" Type="http://schemas.openxmlformats.org/officeDocument/2006/relationships/image" Target="../media/image6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67.png"/><Relationship Id="rId4" Type="http://schemas.openxmlformats.org/officeDocument/2006/relationships/image" Target="../media/image81.png"/><Relationship Id="rId5" Type="http://schemas.openxmlformats.org/officeDocument/2006/relationships/image" Target="../media/image73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8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Relationship Id="rId3" Type="http://schemas.openxmlformats.org/officeDocument/2006/relationships/image" Target="../media/image85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image" Target="../media/image86.png"/><Relationship Id="rId7" Type="http://schemas.openxmlformats.org/officeDocument/2006/relationships/image" Target="../media/image90.png"/><Relationship Id="rId8" Type="http://schemas.openxmlformats.org/officeDocument/2006/relationships/image" Target="../media/image91.png"/><Relationship Id="rId9" Type="http://schemas.openxmlformats.org/officeDocument/2006/relationships/image" Target="../media/image9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93.png"/><Relationship Id="rId4" Type="http://schemas.openxmlformats.org/officeDocument/2006/relationships/image" Target="../media/image94.png"/><Relationship Id="rId5" Type="http://schemas.openxmlformats.org/officeDocument/2006/relationships/image" Target="../media/image95.png"/><Relationship Id="rId6" Type="http://schemas.openxmlformats.org/officeDocument/2006/relationships/image" Target="../media/image96.png"/><Relationship Id="rId7" Type="http://schemas.openxmlformats.org/officeDocument/2006/relationships/image" Target="../media/image97.png"/><Relationship Id="rId8" Type="http://schemas.openxmlformats.org/officeDocument/2006/relationships/image" Target="../media/image98.png"/><Relationship Id="rId9" Type="http://schemas.openxmlformats.org/officeDocument/2006/relationships/image" Target="../media/image99.png"/><Relationship Id="rId10" Type="http://schemas.openxmlformats.org/officeDocument/2006/relationships/image" Target="../media/image3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70.png"/><Relationship Id="rId4" Type="http://schemas.openxmlformats.org/officeDocument/2006/relationships/image" Target="../media/image10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101.png"/><Relationship Id="rId4" Type="http://schemas.openxmlformats.org/officeDocument/2006/relationships/image" Target="../media/image102.png"/><Relationship Id="rId5" Type="http://schemas.openxmlformats.org/officeDocument/2006/relationships/image" Target="../media/image103.png"/><Relationship Id="rId6" Type="http://schemas.openxmlformats.org/officeDocument/2006/relationships/image" Target="../media/image104.png"/><Relationship Id="rId7" Type="http://schemas.openxmlformats.org/officeDocument/2006/relationships/image" Target="../media/image105.png"/><Relationship Id="rId8" Type="http://schemas.openxmlformats.org/officeDocument/2006/relationships/image" Target="../media/image106.png"/><Relationship Id="rId9" Type="http://schemas.openxmlformats.org/officeDocument/2006/relationships/image" Target="../media/image12.png"/><Relationship Id="rId10" Type="http://schemas.openxmlformats.org/officeDocument/2006/relationships/image" Target="../media/image107.png"/><Relationship Id="rId11" Type="http://schemas.openxmlformats.org/officeDocument/2006/relationships/image" Target="../media/image108.png"/><Relationship Id="rId12" Type="http://schemas.openxmlformats.org/officeDocument/2006/relationships/image" Target="../media/image40.png"/><Relationship Id="rId13" Type="http://schemas.openxmlformats.org/officeDocument/2006/relationships/image" Target="../media/image109.png"/><Relationship Id="rId14" Type="http://schemas.openxmlformats.org/officeDocument/2006/relationships/image" Target="../media/image110.png"/><Relationship Id="rId15" Type="http://schemas.openxmlformats.org/officeDocument/2006/relationships/image" Target="../media/image1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20.png"/><Relationship Id="rId4" Type="http://schemas.openxmlformats.org/officeDocument/2006/relationships/image" Target="../media/image19.png"/><Relationship Id="rId5" Type="http://schemas.openxmlformats.org/officeDocument/2006/relationships/image" Target="../media/image113.png"/><Relationship Id="rId6" Type="http://schemas.openxmlformats.org/officeDocument/2006/relationships/image" Target="../media/image114.png"/><Relationship Id="rId7" Type="http://schemas.openxmlformats.org/officeDocument/2006/relationships/image" Target="../media/image115.png"/><Relationship Id="rId8" Type="http://schemas.openxmlformats.org/officeDocument/2006/relationships/image" Target="../media/image116.png"/><Relationship Id="rId9" Type="http://schemas.openxmlformats.org/officeDocument/2006/relationships/image" Target="../media/image11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png"/><Relationship Id="rId3" Type="http://schemas.openxmlformats.org/officeDocument/2006/relationships/image" Target="../media/image119.jpg"/><Relationship Id="rId4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120.png"/><Relationship Id="rId7" Type="http://schemas.openxmlformats.org/officeDocument/2006/relationships/image" Target="../media/image121.png"/><Relationship Id="rId8" Type="http://schemas.openxmlformats.org/officeDocument/2006/relationships/image" Target="../media/image23.png"/><Relationship Id="rId9" Type="http://schemas.openxmlformats.org/officeDocument/2006/relationships/image" Target="../media/image122.png"/><Relationship Id="rId10" Type="http://schemas.openxmlformats.org/officeDocument/2006/relationships/image" Target="../media/image123.png"/><Relationship Id="rId11" Type="http://schemas.openxmlformats.org/officeDocument/2006/relationships/image" Target="../media/image116.png"/><Relationship Id="rId12" Type="http://schemas.openxmlformats.org/officeDocument/2006/relationships/image" Target="../media/image124.png"/><Relationship Id="rId13" Type="http://schemas.openxmlformats.org/officeDocument/2006/relationships/image" Target="../media/image125.png"/><Relationship Id="rId14" Type="http://schemas.openxmlformats.org/officeDocument/2006/relationships/image" Target="../media/image126.png"/><Relationship Id="rId15" Type="http://schemas.openxmlformats.org/officeDocument/2006/relationships/image" Target="../media/image127.png"/><Relationship Id="rId16" Type="http://schemas.openxmlformats.org/officeDocument/2006/relationships/image" Target="../media/image128.png"/><Relationship Id="rId17" Type="http://schemas.openxmlformats.org/officeDocument/2006/relationships/image" Target="../media/image1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Relationship Id="rId3" Type="http://schemas.openxmlformats.org/officeDocument/2006/relationships/image" Target="../media/image131.png"/><Relationship Id="rId4" Type="http://schemas.openxmlformats.org/officeDocument/2006/relationships/image" Target="../media/image132.png"/><Relationship Id="rId5" Type="http://schemas.openxmlformats.org/officeDocument/2006/relationships/image" Target="../media/image133.png"/><Relationship Id="rId6" Type="http://schemas.openxmlformats.org/officeDocument/2006/relationships/image" Target="../media/image134.png"/><Relationship Id="rId7" Type="http://schemas.openxmlformats.org/officeDocument/2006/relationships/image" Target="../media/image13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27"/>
            </a:gs>
            <a:gs pos="50000">
              <a:srgbClr val="1A1F3A"/>
            </a:gs>
            <a:gs pos="100000">
              <a:srgbClr val="2D1B4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E27">
                  <a:alpha val="85000"/>
                </a:srgbClr>
              </a:gs>
              <a:gs pos="50000">
                <a:srgbClr val="1A1F3A">
                  <a:alpha val="75000"/>
                </a:srgbClr>
              </a:gs>
              <a:gs pos="100000">
                <a:srgbClr val="2D1B4E">
                  <a:alpha val="85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D9FF"/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D9FF"/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752956" y="541564"/>
            <a:ext cx="685782" cy="440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33746" y="1485900"/>
            <a:ext cx="3914677" cy="8572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1040"/>
              </a:spcAft>
            </a:pPr>
            <a:r>
              <a:rPr sz="4305" b="1">
                <a:solidFill>
                  <a:srgbClr val="00D9FF"/>
                </a:solidFill>
                <a:latin typeface="Orbitron"/>
                <a:rFonts ascii="Orbitron" hAnsi="Orbitron" eastAsia="Orbitron" cs="Orbitron"/>
              </a:rPr>
              <a:t>OPEN CV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678" y="2495550"/>
            <a:ext cx="2438339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D9FF"/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57648" y="2762249"/>
            <a:ext cx="207639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Day 1 - session 1.2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5192" y="3181350"/>
            <a:ext cx="3581310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3120"/>
              </a:spcAft>
            </a:pPr>
            <a:r>
              <a:rPr sz="1794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TOOL FOR IMAGE PROCESSING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9864" y="4286250"/>
            <a:ext cx="5371965" cy="2152650"/>
          </a:xfrm>
          <a:prstGeom prst="roundRect">
            <a:avLst>
              <a:gd name="adj" fmla="val 7079"/>
            </a:avLst>
          </a:prstGeom>
          <a:solidFill>
            <a:srgbClr val="00D9FF">
              <a:alpha val="10000"/>
            </a:srgbClr>
          </a:solidFill>
          <a:ln w="8255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314817" y="4651057"/>
            <a:ext cx="228594" cy="16573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57708" y="4600575"/>
            <a:ext cx="20954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By: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1" y="4619625"/>
            <a:ext cx="199067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E0E7FF"/>
                </a:solidFill>
                <a:latin typeface="Rajdhani"/>
                <a:rFonts ascii="Rajdhani" hAnsi="Rajdhani" eastAsia="Rajdhani" cs="Rajdhani"/>
              </a:rPr>
              <a:t>Ansik Singh Tomar (Aanshik)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676658" y="5090160"/>
            <a:ext cx="228594" cy="12572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19549" y="5019675"/>
            <a:ext cx="84770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Coordinator: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1" y="5038724"/>
            <a:ext cx="83817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E0E7FF"/>
                </a:solidFill>
                <a:latin typeface="Rajdhani"/>
                <a:rFonts ascii="Rajdhani" hAnsi="Rajdhani" eastAsia="Rajdhani" cs="Rajdhani"/>
              </a:rPr>
              <a:t>Technocrats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067173" y="5474969"/>
            <a:ext cx="228594" cy="19430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10064" y="5438774"/>
            <a:ext cx="4571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Venue: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1" y="5457825"/>
            <a:ext cx="22859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E0E7FF"/>
                </a:solidFill>
                <a:latin typeface="Rajdhani"/>
                <a:rFonts ascii="Rajdhani" hAnsi="Rajdhani" eastAsia="Rajdhani" cs="Rajdhani"/>
              </a:rPr>
              <a:t>LG1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171945" y="5894070"/>
            <a:ext cx="228594" cy="19430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514837" y="5857875"/>
            <a:ext cx="35241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Time: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1" y="5876925"/>
            <a:ext cx="72388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E0E7FF"/>
                </a:solidFill>
                <a:latin typeface="Rajdhani"/>
                <a:rFonts ascii="Rajdhani" hAnsi="Rajdhani" eastAsia="Rajdhani" cs="Rajdhani"/>
              </a:rPr>
              <a:t>09:00 P.m.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34426" y="304800"/>
            <a:ext cx="9524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SESSION 1.2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27"/>
            </a:gs>
            <a:gs pos="50000">
              <a:srgbClr val="1A1F3A"/>
            </a:gs>
            <a:gs pos="100000">
              <a:srgbClr val="2D1B4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4371865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00D9FF"/>
                </a:solidFill>
                <a:latin typeface="Orbitron"/>
                <a:rFonts ascii="Orbitron" hAnsi="Orbitron" eastAsia="Orbitron" cs="Orbitron"/>
              </a:rPr>
              <a:t>SESSION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00079" y="192404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00D9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2039592"/>
            <a:ext cx="266693" cy="2261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47763" y="1924049"/>
            <a:ext cx="41527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What is OpenCV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7763" y="2228850"/>
            <a:ext cx="41527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Introduction to computer vision library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91135" y="192404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00D9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86382" y="2039592"/>
            <a:ext cx="266693" cy="2261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38819" y="1924049"/>
            <a:ext cx="41527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How Images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8819" y="2228850"/>
            <a:ext cx="41527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Understanding pixels and matrices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079" y="302895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00D9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5327" y="3153189"/>
            <a:ext cx="266693" cy="20872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47763" y="3028950"/>
            <a:ext cx="41527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Reading &amp; Displaying Images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7763" y="3333749"/>
            <a:ext cx="41527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Loading and showing images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91135" y="302895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00D9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86382" y="3144492"/>
            <a:ext cx="266693" cy="22611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238819" y="3028950"/>
            <a:ext cx="41527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Image Properties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8819" y="3333749"/>
            <a:ext cx="41527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Accessing shape, height, width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079" y="413384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00D9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95327" y="4258089"/>
            <a:ext cx="266693" cy="20872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47763" y="4133849"/>
            <a:ext cx="41527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Drawing Shapes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7763" y="4438649"/>
            <a:ext cx="41527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Lines, rectangles, circles, text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91135" y="413384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00D9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686382" y="4289977"/>
            <a:ext cx="266693" cy="14494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38819" y="4133849"/>
            <a:ext cx="41527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Capturing Video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8819" y="4438649"/>
            <a:ext cx="41527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Real-time webcam processing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079" y="523874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00D9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95327" y="5342696"/>
            <a:ext cx="266693" cy="24930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447763" y="5238749"/>
            <a:ext cx="41527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Frame Processing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47763" y="5543550"/>
            <a:ext cx="41527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Processing pipeline concepts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91135" y="523874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00D9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686382" y="5339797"/>
            <a:ext cx="266693" cy="25510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238819" y="5238749"/>
            <a:ext cx="41527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Building Cool Project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38819" y="5543550"/>
            <a:ext cx="41527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Hand tracking robotic control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29634" y="6362700"/>
            <a:ext cx="9524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SESSION 1.2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27"/>
            </a:gs>
            <a:gs pos="50000">
              <a:srgbClr val="1A1F3A"/>
            </a:gs>
            <a:gs pos="100000">
              <a:srgbClr val="2D1B4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4028974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00D9FF"/>
                </a:solidFill>
                <a:latin typeface="Orbitron"/>
                <a:rFonts ascii="Orbitron" hAnsi="Orbitron" eastAsia="Orbitron" cs="Orbitron"/>
              </a:rPr>
              <a:t>WHAT IS OPENCV?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188" y="1352549"/>
            <a:ext cx="3962300" cy="4952999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33866" y="1514475"/>
            <a:ext cx="6400639" cy="1438274"/>
          </a:xfrm>
          <a:prstGeom prst="roundRect">
            <a:avLst>
              <a:gd name="adj" fmla="val 15894"/>
            </a:avLst>
          </a:prstGeom>
          <a:solidFill>
            <a:srgbClr val="00D9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4680769" y="2167572"/>
            <a:ext cx="14382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00559" y="1743075"/>
            <a:ext cx="590535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</a:t>
            </a:r>
            <a:r>
              <a:rPr sz="1196" b="1">
                <a:solidFill>
                  <a:srgbClr val="00D9FF"/>
                </a:solidFill>
                <a:latin typeface="Rajdhani"/>
                <a:rFonts ascii="Rajdhani" hAnsi="Rajdhani" eastAsia="Rajdhani" cs="Rajdhani"/>
              </a:rPr>
              <a:t>OpenCV</a:t>
            </a:r>
            <a:r>
              <a:rPr sz="119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(Open Source Computer Vision Library)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559" y="2171700"/>
            <a:ext cx="5905352" cy="5619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A powerful library that enables computers to see and understand images or videos through advanced algorithms.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3866" y="3333749"/>
            <a:ext cx="3124121" cy="838200"/>
          </a:xfrm>
          <a:prstGeom prst="roundRect">
            <a:avLst>
              <a:gd name="adj" fmla="val 18181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486262" y="3530917"/>
            <a:ext cx="228594" cy="1771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29154" y="3486150"/>
            <a:ext cx="12382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Image 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262" y="3829050"/>
            <a:ext cx="281932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Manipulate and analyze images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10384" y="3333749"/>
            <a:ext cx="3124121" cy="838200"/>
          </a:xfrm>
          <a:prstGeom prst="roundRect">
            <a:avLst>
              <a:gd name="adj" fmla="val 18181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762780" y="3556634"/>
            <a:ext cx="228594" cy="12572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05672" y="3486150"/>
            <a:ext cx="11810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Video 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2780" y="3829050"/>
            <a:ext cx="281932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Real-time video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33866" y="4324349"/>
            <a:ext cx="3124121" cy="838200"/>
          </a:xfrm>
          <a:prstGeom prst="roundRect">
            <a:avLst>
              <a:gd name="adj" fmla="val 18181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486262" y="4522946"/>
            <a:ext cx="228594" cy="17430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29154" y="4476750"/>
            <a:ext cx="114297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Object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262" y="4819650"/>
            <a:ext cx="281932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Identify objects in scenes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10384" y="4324349"/>
            <a:ext cx="3124121" cy="838200"/>
          </a:xfrm>
          <a:prstGeom prst="roundRect">
            <a:avLst>
              <a:gd name="adj" fmla="val 18181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762780" y="4512945"/>
            <a:ext cx="228594" cy="19430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105672" y="4476750"/>
            <a:ext cx="11810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Face Recognition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62780" y="4819650"/>
            <a:ext cx="281932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Detect and identify faces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33866" y="5314950"/>
            <a:ext cx="3124121" cy="838200"/>
          </a:xfrm>
          <a:prstGeom prst="roundRect">
            <a:avLst>
              <a:gd name="adj" fmla="val 18181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514297" y="5486400"/>
            <a:ext cx="172523" cy="2286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829154" y="5467349"/>
            <a:ext cx="12572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Gesture 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262" y="5810249"/>
            <a:ext cx="281932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Recognize hand gestures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10384" y="5314950"/>
            <a:ext cx="3124121" cy="838200"/>
          </a:xfrm>
          <a:prstGeom prst="roundRect">
            <a:avLst>
              <a:gd name="adj" fmla="val 18181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762780" y="5507831"/>
            <a:ext cx="228594" cy="18573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105672" y="5467349"/>
            <a:ext cx="105724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Robotics Vision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62780" y="5810249"/>
            <a:ext cx="281932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Enable robot perception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29634" y="6362700"/>
            <a:ext cx="9524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SESSION 1.2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27"/>
            </a:gs>
            <a:gs pos="50000">
              <a:srgbClr val="1A1F3A"/>
            </a:gs>
            <a:gs pos="100000">
              <a:srgbClr val="2D1B4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5086222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00D9FF"/>
                </a:solidFill>
                <a:latin typeface="Orbitron"/>
                <a:rFonts ascii="Orbitron" hAnsi="Orbitron" eastAsia="Orbitron" cs="Orbitron"/>
              </a:rPr>
              <a:t>OPENCV APPLICATIONS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188" y="1352549"/>
            <a:ext cx="3962300" cy="4952999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3866" y="1390650"/>
            <a:ext cx="640063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Projects use OpenCV to build powerful vision applications: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33866" y="2009774"/>
            <a:ext cx="6400639" cy="952499"/>
          </a:xfrm>
          <a:prstGeom prst="roundRect">
            <a:avLst>
              <a:gd name="adj" fmla="val 24000"/>
            </a:avLst>
          </a:prstGeom>
          <a:solidFill>
            <a:srgbClr val="00D9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4923657" y="2419983"/>
            <a:ext cx="952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562460" y="2200275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00D9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676758" y="2384913"/>
            <a:ext cx="304792" cy="1641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86342" y="2200275"/>
            <a:ext cx="525766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Capture Video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342" y="2543175"/>
            <a:ext cx="52576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Stream frames from webcam in real-time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3866" y="3114675"/>
            <a:ext cx="6400639" cy="952499"/>
          </a:xfrm>
          <a:prstGeom prst="roundRect">
            <a:avLst>
              <a:gd name="adj" fmla="val 24000"/>
            </a:avLst>
          </a:prstGeom>
          <a:solidFill>
            <a:srgbClr val="00D9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923657" y="3524884"/>
            <a:ext cx="952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62460" y="3305174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00D9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676758" y="3435594"/>
            <a:ext cx="304792" cy="27256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86342" y="3305174"/>
            <a:ext cx="525766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Process Frames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342" y="3648074"/>
            <a:ext cx="52576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Apply filters, transformations, and algorithms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33866" y="4219575"/>
            <a:ext cx="6400639" cy="952499"/>
          </a:xfrm>
          <a:prstGeom prst="roundRect">
            <a:avLst>
              <a:gd name="adj" fmla="val 24000"/>
            </a:avLst>
          </a:prstGeom>
          <a:solidFill>
            <a:srgbClr val="00D9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4923657" y="4629784"/>
            <a:ext cx="952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562460" y="4410074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00D9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703366" y="4524374"/>
            <a:ext cx="251574" cy="30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286342" y="4410074"/>
            <a:ext cx="525766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Draw Landmarks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6342" y="4752974"/>
            <a:ext cx="52576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Mark features like faces, hands, and objects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33866" y="5324474"/>
            <a:ext cx="6400639" cy="952499"/>
          </a:xfrm>
          <a:prstGeom prst="roundRect">
            <a:avLst>
              <a:gd name="adj" fmla="val 24000"/>
            </a:avLst>
          </a:prstGeom>
          <a:solidFill>
            <a:srgbClr val="00D9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4923657" y="5734683"/>
            <a:ext cx="952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562460" y="5514975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00D9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676758" y="5664444"/>
            <a:ext cx="304792" cy="23446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286342" y="5514975"/>
            <a:ext cx="525766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Display 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6342" y="5857875"/>
            <a:ext cx="52576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Show processed output on screen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29634" y="6362700"/>
            <a:ext cx="9524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SESSION 1.2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27"/>
            </a:gs>
            <a:gs pos="50000">
              <a:srgbClr val="1A1F3A"/>
            </a:gs>
            <a:gs pos="100000">
              <a:srgbClr val="2D1B4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4495687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00D9FF"/>
                </a:solidFill>
                <a:latin typeface="Orbitron"/>
                <a:rFonts ascii="Orbitron" hAnsi="Orbitron" eastAsia="Orbitron" cs="Orbitron"/>
              </a:rPr>
              <a:t>INSTALLING OPENCV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57188" y="1498052"/>
            <a:ext cx="342891" cy="2423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377" y="1466849"/>
            <a:ext cx="206687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Installation Command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188" y="2019299"/>
            <a:ext cx="5181470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080"/>
              </a:spcAft>
            </a:pPr>
            <a:r>
              <a:rPr sz="107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OpenCV is easily installed using Python's package manager pip. Run this command in your terminal: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188" y="3162299"/>
            <a:ext cx="5181470" cy="1209674"/>
          </a:xfrm>
          <a:prstGeom prst="roundRect">
            <a:avLst>
              <a:gd name="adj" fmla="val 18897"/>
            </a:avLst>
          </a:prstGeom>
          <a:solidFill>
            <a:srgbClr val="000000">
              <a:alpha val="50000"/>
            </a:srgbClr>
          </a:solidFill>
          <a:ln w="1651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1030" y="35051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71525" y="35051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62020" y="35051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8714" y="3486150"/>
            <a:ext cx="55243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8B9DC3"/>
                </a:solidFill>
                <a:latin typeface="Roboto Mono"/>
                <a:rFonts ascii="Roboto Mono" hAnsi="Roboto Mono" eastAsia="Roboto Mono" cs="Roboto Mono"/>
              </a:rPr>
              <a:t>Terminal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188" y="4676775"/>
            <a:ext cx="5181470" cy="1543050"/>
          </a:xfrm>
          <a:prstGeom prst="roundRect">
            <a:avLst>
              <a:gd name="adj" fmla="val 14814"/>
            </a:avLst>
          </a:prstGeom>
          <a:solidFill>
            <a:srgbClr val="00D9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85782" y="4925667"/>
            <a:ext cx="266693" cy="2261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04872" y="4905375"/>
            <a:ext cx="20382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Requirements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872" y="5248275"/>
            <a:ext cx="2038299" cy="7429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 Python 3.6+ recommended</a:t>
            </a:r>
            <a:r>
              <a:rPr sz="1104"/>
              <a:t>
</a:t>
            </a: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 pip package manager installed</a:t>
            </a:r>
            <a:r>
              <a:rPr sz="1104"/>
              <a:t>
</a:t>
            </a: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 Internet connection for download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53036" y="1505442"/>
            <a:ext cx="342891" cy="22761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553036" y="2095499"/>
            <a:ext cx="5181470" cy="914400"/>
          </a:xfrm>
          <a:prstGeom prst="roundRect">
            <a:avLst>
              <a:gd name="adj" fmla="val 16666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43531" y="228600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3551" y="2381250"/>
            <a:ext cx="6667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D9FF"/>
                </a:solidFill>
                <a:latin typeface="Rajdhani"/>
                <a:rFonts ascii="Rajdhani" hAnsi="Rajdhani" eastAsia="Rajdhani" cs="Rajdhan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1215" y="2286000"/>
            <a:ext cx="41527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Open Terminal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91215" y="2590799"/>
            <a:ext cx="415279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Launch command prompt or terminal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53036" y="3162299"/>
            <a:ext cx="5181470" cy="914400"/>
          </a:xfrm>
          <a:prstGeom prst="roundRect">
            <a:avLst>
              <a:gd name="adj" fmla="val 16666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43531" y="335280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24501" y="3448049"/>
            <a:ext cx="952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D9FF"/>
                </a:solidFill>
                <a:latin typeface="Rajdhani"/>
                <a:rFonts ascii="Rajdhani" hAnsi="Rajdhani" eastAsia="Rajdhani" cs="Rajdhan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1215" y="3352800"/>
            <a:ext cx="41527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Run Command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91215" y="3657600"/>
            <a:ext cx="415279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Execute pip install opencv-python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53036" y="4229100"/>
            <a:ext cx="5181470" cy="914400"/>
          </a:xfrm>
          <a:prstGeom prst="roundRect">
            <a:avLst>
              <a:gd name="adj" fmla="val 16666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743531" y="441960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24501" y="4514850"/>
            <a:ext cx="952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D9FF"/>
                </a:solidFill>
                <a:latin typeface="Rajdhani"/>
                <a:rFonts ascii="Rajdhani" hAnsi="Rajdhani" eastAsia="Rajdhani" cs="Rajdhan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91215" y="4419600"/>
            <a:ext cx="41527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Wait for Download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91215" y="4724399"/>
            <a:ext cx="415279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Package downloads and installs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53036" y="5295899"/>
            <a:ext cx="5181470" cy="914400"/>
          </a:xfrm>
          <a:prstGeom prst="roundRect">
            <a:avLst>
              <a:gd name="adj" fmla="val 16666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743531" y="548640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24501" y="5581649"/>
            <a:ext cx="1047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D9FF"/>
                </a:solidFill>
                <a:latin typeface="Rajdhani"/>
                <a:rFonts ascii="Rajdhani" hAnsi="Rajdhani" eastAsia="Rajdhani" cs="Rajdhan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1215" y="5486400"/>
            <a:ext cx="41527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Verify Installation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91215" y="5791200"/>
            <a:ext cx="415279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Import cv2 and check version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29634" y="6362700"/>
            <a:ext cx="9524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SESSION 1.2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27"/>
            </a:gs>
            <a:gs pos="50000">
              <a:srgbClr val="1A1F3A"/>
            </a:gs>
            <a:gs pos="100000">
              <a:srgbClr val="2D1B4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5067173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00D9FF"/>
                </a:solidFill>
                <a:latin typeface="Orbitron"/>
                <a:rFonts ascii="Orbitron" hAnsi="Orbitron" eastAsia="Orbitron" cs="Orbitron"/>
              </a:rPr>
              <a:t>TESTING INSTALLATION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57188" y="1794312"/>
            <a:ext cx="342891" cy="1832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377" y="1733550"/>
            <a:ext cx="159063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Verification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188" y="228600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560"/>
              </a:spcAft>
            </a:pPr>
            <a:r>
              <a:rPr sz="107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Run this simple Python code to verify OpenCV is installed correctly: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188" y="3009900"/>
            <a:ext cx="5181470" cy="1847849"/>
          </a:xfrm>
          <a:prstGeom prst="roundRect">
            <a:avLst>
              <a:gd name="adj" fmla="val 12371"/>
            </a:avLst>
          </a:prstGeom>
          <a:solidFill>
            <a:srgbClr val="000000">
              <a:alpha val="60000"/>
            </a:srgbClr>
          </a:solidFill>
          <a:ln w="1651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1030" y="335280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71525" y="335280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62020" y="335280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8714" y="3333749"/>
            <a:ext cx="96200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8B9DC3"/>
                </a:solidFill>
                <a:latin typeface="Roboto Mono"/>
                <a:rFonts ascii="Roboto Mono" hAnsi="Roboto Mono" eastAsia="Roboto Mono" cs="Roboto Mono"/>
              </a:rPr>
              <a:t>test_opencv.py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188" y="5076825"/>
            <a:ext cx="5181470" cy="876299"/>
          </a:xfrm>
          <a:prstGeom prst="roundRect">
            <a:avLst>
              <a:gd name="adj" fmla="val 26086"/>
            </a:avLst>
          </a:prstGeom>
          <a:solidFill>
            <a:srgbClr val="00D9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7683" y="5284469"/>
            <a:ext cx="228594" cy="19430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90575" y="5267324"/>
            <a:ext cx="4457588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This imports the OpenCV library and displays its version number, confirming successful installation.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53036" y="1798254"/>
            <a:ext cx="342891" cy="289691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553036" y="2343150"/>
            <a:ext cx="5181470" cy="1247775"/>
          </a:xfrm>
          <a:prstGeom prst="roundRect">
            <a:avLst>
              <a:gd name="adj" fmla="val 18320"/>
            </a:avLst>
          </a:prstGeom>
          <a:solidFill>
            <a:srgbClr val="000000">
              <a:alpha val="50000"/>
            </a:srgbClr>
          </a:solidFill>
          <a:ln w="1651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76878" y="268605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67373" y="268605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57868" y="268605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4561" y="2667000"/>
            <a:ext cx="40956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8B9DC3"/>
                </a:solidFill>
                <a:latin typeface="Roboto Mono"/>
                <a:rFonts ascii="Roboto Mono" hAnsi="Roboto Mono" eastAsia="Roboto Mono" cs="Roboto Mono"/>
              </a:rPr>
              <a:t>Output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3036" y="3895724"/>
            <a:ext cx="5181470" cy="914400"/>
          </a:xfrm>
          <a:prstGeom prst="roundRect">
            <a:avLst>
              <a:gd name="adj" fmla="val 16666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743531" y="4106517"/>
            <a:ext cx="266693" cy="22611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124521" y="4086225"/>
            <a:ext cx="249548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Installation Successful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4521" y="4391025"/>
            <a:ext cx="249548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Version number displayed without errors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53036" y="4962525"/>
            <a:ext cx="5181470" cy="933449"/>
          </a:xfrm>
          <a:prstGeom prst="roundRect">
            <a:avLst>
              <a:gd name="adj" fmla="val 16326"/>
            </a:avLst>
          </a:prstGeom>
          <a:solidFill>
            <a:srgbClr val="FF5F56">
              <a:alpha val="8000"/>
            </a:srgbClr>
          </a:solidFill>
          <a:ln w="8255">
            <a:solidFill>
              <a:srgbClr val="FF5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753056" y="5182842"/>
            <a:ext cx="266693" cy="22611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134046" y="5162550"/>
            <a:ext cx="30002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Installation Failed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4046" y="5467349"/>
            <a:ext cx="30002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ModuleNotFoundError means installation needed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29634" y="6362700"/>
            <a:ext cx="9524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SESSION 1.2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27"/>
            </a:gs>
            <a:gs pos="50000">
              <a:srgbClr val="1A1F3A"/>
            </a:gs>
            <a:gs pos="100000">
              <a:srgbClr val="2D1B4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6648283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00D9FF"/>
                </a:solidFill>
                <a:latin typeface="Orbitron"/>
                <a:rFonts ascii="Orbitron" hAnsi="Orbitron" eastAsia="Orbitron" cs="Orbitron"/>
              </a:rPr>
              <a:t>HOW IMAGES WORK IN OPENCV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57188" y="1474404"/>
            <a:ext cx="342891" cy="2896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188" y="1943100"/>
            <a:ext cx="5181470" cy="5619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1560"/>
              </a:spcAft>
            </a:pPr>
            <a:r>
              <a:rPr sz="107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An image is just a </a:t>
            </a:r>
            <a:r>
              <a:rPr sz="1076" b="1">
                <a:solidFill>
                  <a:srgbClr val="00D9FF"/>
                </a:solidFill>
                <a:latin typeface="Rajdhani"/>
                <a:rFonts ascii="Rajdhani" hAnsi="Rajdhani" eastAsia="Rajdhani" cs="Rajdhani"/>
              </a:rPr>
              <a:t>matrix of pixels</a:t>
            </a:r>
            <a:r>
              <a:rPr sz="107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. Each pixel contains color information stored as numerical values.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188" y="2952750"/>
            <a:ext cx="5181470" cy="1409699"/>
          </a:xfrm>
          <a:prstGeom prst="roundRect">
            <a:avLst>
              <a:gd name="adj" fmla="val 16216"/>
            </a:avLst>
          </a:prstGeom>
          <a:solidFill>
            <a:srgbClr val="00D9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-181621" y="3591559"/>
            <a:ext cx="1409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23881" y="3217545"/>
            <a:ext cx="228594" cy="194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28674" y="3181350"/>
            <a:ext cx="107629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Example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881" y="3562349"/>
            <a:ext cx="46861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</a:t>
            </a:r>
            <a:r>
              <a:rPr sz="1196" b="1">
                <a:solidFill>
                  <a:srgbClr val="00D9FF"/>
                </a:solidFill>
                <a:latin typeface="Rajdhani"/>
                <a:rFonts ascii="Rajdhani" hAnsi="Rajdhani" eastAsia="Rajdhani" cs="Rajdhani"/>
              </a:rPr>
              <a:t>720 x 1080 pixels</a:t>
            </a:r>
            <a:r>
              <a:rPr sz="119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881" y="3905249"/>
            <a:ext cx="468618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Height: 720 rows | Width: 1080 columns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188" y="4591050"/>
            <a:ext cx="5181470" cy="1638299"/>
          </a:xfrm>
          <a:prstGeom prst="roundRect">
            <a:avLst>
              <a:gd name="adj" fmla="val 13953"/>
            </a:avLst>
          </a:prstGeom>
          <a:solidFill>
            <a:srgbClr val="000000">
              <a:alpha val="50000"/>
            </a:srgbClr>
          </a:solidFill>
          <a:ln w="1651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04832" y="4883467"/>
            <a:ext cx="228594" cy="1771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9624" y="4838699"/>
            <a:ext cx="102867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Pixel Structure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832" y="5219700"/>
            <a:ext cx="1333466" cy="419100"/>
          </a:xfrm>
          <a:prstGeom prst="roundRect">
            <a:avLst>
              <a:gd name="adj" fmla="val 18181"/>
            </a:avLst>
          </a:prstGeom>
          <a:solidFill>
            <a:srgbClr val="00D9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832" y="5219700"/>
            <a:ext cx="1333466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[B, G, R]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0695" y="5314950"/>
            <a:ext cx="107629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</a:t>
            </a:r>
            <a:r>
              <a:rPr sz="95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3 values</a:t>
            </a:r>
            <a:r>
              <a:rPr sz="95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per pixel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832" y="5753099"/>
            <a:ext cx="468618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78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Each value ranges from 0-255 representing color intensity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53036" y="1266824"/>
            <a:ext cx="5181470" cy="4762500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3036" y="6181724"/>
            <a:ext cx="518147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104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Pixel Grid Representation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29634" y="6372225"/>
            <a:ext cx="9524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SESSION 1.2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27"/>
            </a:gs>
            <a:gs pos="50000">
              <a:srgbClr val="1A1F3A"/>
            </a:gs>
            <a:gs pos="100000">
              <a:srgbClr val="2D1B4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5333866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00D9FF"/>
                </a:solidFill>
                <a:latin typeface="Orbitron"/>
                <a:rFonts ascii="Orbitron" hAnsi="Orbitron" eastAsia="Orbitron" cs="Orbitron"/>
              </a:rPr>
              <a:t>UNDERSTANDING PIXELS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57188" y="1352878"/>
            <a:ext cx="342891" cy="2660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188" y="1809749"/>
            <a:ext cx="5181470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Each pixel contains </a:t>
            </a:r>
            <a:r>
              <a:rPr sz="1076" b="1">
                <a:solidFill>
                  <a:srgbClr val="00D9FF"/>
                </a:solidFill>
                <a:latin typeface="Rajdhani"/>
                <a:rFonts ascii="Rajdhani" hAnsi="Rajdhani" eastAsia="Rajdhani" cs="Rajdhani"/>
              </a:rPr>
              <a:t>3 values</a:t>
            </a:r>
            <a:r>
              <a:rPr sz="107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representing BGR color intensities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188" y="2314575"/>
            <a:ext cx="5181470" cy="1143000"/>
          </a:xfrm>
          <a:prstGeom prst="roundRect">
            <a:avLst>
              <a:gd name="adj" fmla="val 20000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-48272" y="2820035"/>
            <a:ext cx="11430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782" y="2505074"/>
            <a:ext cx="761980" cy="761999"/>
          </a:xfrm>
          <a:prstGeom prst="roundRect">
            <a:avLst>
              <a:gd name="adj" fmla="val 20000"/>
            </a:avLst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38259" y="2581275"/>
            <a:ext cx="380990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[255, 0, 0]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259" y="2924175"/>
            <a:ext cx="380990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</a:t>
            </a: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Blue</a:t>
            </a:r>
            <a:r>
              <a:rPr sz="107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- Maximum blue intensity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188" y="3609975"/>
            <a:ext cx="5181470" cy="1143000"/>
          </a:xfrm>
          <a:prstGeom prst="roundRect">
            <a:avLst>
              <a:gd name="adj" fmla="val 20000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-48272" y="4115435"/>
            <a:ext cx="11430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782" y="3800475"/>
            <a:ext cx="761980" cy="761999"/>
          </a:xfrm>
          <a:prstGeom prst="roundRect">
            <a:avLst>
              <a:gd name="adj" fmla="val 20000"/>
            </a:avLst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38259" y="3876674"/>
            <a:ext cx="380990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[0, 255, 0]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38259" y="4219575"/>
            <a:ext cx="380990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</a:t>
            </a: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Green</a:t>
            </a:r>
            <a:r>
              <a:rPr sz="107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- Maximum green intensity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188" y="4905375"/>
            <a:ext cx="5181470" cy="1143000"/>
          </a:xfrm>
          <a:prstGeom prst="roundRect">
            <a:avLst>
              <a:gd name="adj" fmla="val 20000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-48272" y="5410835"/>
            <a:ext cx="11430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782" y="5095874"/>
            <a:ext cx="761980" cy="761999"/>
          </a:xfrm>
          <a:prstGeom prst="roundRect">
            <a:avLst>
              <a:gd name="adj" fmla="val 20000"/>
            </a:avLst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38259" y="5172075"/>
            <a:ext cx="380990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[0, 0, 255]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38259" y="5514975"/>
            <a:ext cx="380990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</a:t>
            </a: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Red</a:t>
            </a:r>
            <a:r>
              <a:rPr sz="107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- Maximum red intensity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3036" y="1847849"/>
            <a:ext cx="5181470" cy="3971925"/>
          </a:xfrm>
          <a:prstGeom prst="roundRect">
            <a:avLst>
              <a:gd name="adj" fmla="val 5755"/>
            </a:avLst>
          </a:prstGeom>
          <a:solidFill>
            <a:srgbClr val="FF5F56">
              <a:alpha val="10000"/>
            </a:srgbClr>
          </a:solidFill>
          <a:ln w="16510">
            <a:solidFill>
              <a:srgbClr val="FF5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876878" y="2204216"/>
            <a:ext cx="342891" cy="27786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334066" y="2190749"/>
            <a:ext cx="143823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Important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878" y="2743200"/>
            <a:ext cx="453378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1040"/>
              </a:spcAft>
            </a:pPr>
            <a:r>
              <a:rPr sz="119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OpenCV uses </a:t>
            </a:r>
            <a:r>
              <a:rPr sz="1196" b="1">
                <a:solidFill>
                  <a:srgbClr val="FF5F56"/>
                </a:solidFill>
                <a:latin typeface="Rajdhani"/>
                <a:rFonts ascii="Rajdhani" hAnsi="Rajdhani" eastAsia="Rajdhani" cs="Rajdhani"/>
              </a:rPr>
              <a:t>BGR</a:t>
            </a:r>
            <a:r>
              <a:rPr sz="119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color format by default, not RGB! 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76878" y="3286125"/>
            <a:ext cx="2190695" cy="1181099"/>
          </a:xfrm>
          <a:prstGeom prst="roundRect">
            <a:avLst>
              <a:gd name="adj" fmla="val 12903"/>
            </a:avLst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29274" y="3438525"/>
            <a:ext cx="188590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8B9DC3"/>
                </a:solidFill>
                <a:latin typeface="Roboto Mono"/>
                <a:rFonts ascii="Roboto Mono" hAnsi="Roboto Mono" eastAsia="Roboto Mono" cs="Roboto Mono"/>
              </a:rPr>
              <a:t>Standard Format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9274" y="3705224"/>
            <a:ext cx="188590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  <a:latin typeface="Roboto Mono"/>
                <a:rFonts ascii="Roboto Mono" hAnsi="Roboto Mono" eastAsia="Roboto Mono" cs="Roboto Mono"/>
              </a:rPr>
              <a:t>RGB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9274" y="4086225"/>
            <a:ext cx="188590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Red, Green, Blue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19969" y="3286125"/>
            <a:ext cx="2190695" cy="1181099"/>
          </a:xfrm>
          <a:prstGeom prst="roundRect">
            <a:avLst>
              <a:gd name="adj" fmla="val 12903"/>
            </a:avLst>
          </a:prstGeom>
          <a:solidFill>
            <a:srgbClr val="00D9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72365" y="3438525"/>
            <a:ext cx="188590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8B9DC3"/>
                </a:solidFill>
                <a:latin typeface="Roboto Mono"/>
                <a:rFonts ascii="Roboto Mono" hAnsi="Roboto Mono" eastAsia="Roboto Mono" cs="Roboto Mono"/>
              </a:rPr>
              <a:t>OpenCV Format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365" y="3705224"/>
            <a:ext cx="188590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BGR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365" y="4086225"/>
            <a:ext cx="188590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Blue, Green, Red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76878" y="4695824"/>
            <a:ext cx="4533786" cy="800100"/>
          </a:xfrm>
          <a:prstGeom prst="roundRect">
            <a:avLst>
              <a:gd name="adj" fmla="val 19047"/>
            </a:avLst>
          </a:prstGeom>
          <a:solidFill>
            <a:srgbClr val="00D9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029274" y="4865370"/>
            <a:ext cx="228594" cy="19430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334066" y="4848225"/>
            <a:ext cx="3924201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This is crucial when working with different libraries or displaying images. Many ML models require RGB format.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29634" y="6362700"/>
            <a:ext cx="9524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SESSION 1.2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27"/>
            </a:gs>
            <a:gs pos="50000">
              <a:srgbClr val="1A1F3A"/>
            </a:gs>
            <a:gs pos="100000">
              <a:srgbClr val="2D1B4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4495687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00D9FF"/>
                </a:solidFill>
                <a:latin typeface="Orbitron"/>
                <a:rFonts ascii="Orbitron" hAnsi="Orbitron" eastAsia="Orbitron" cs="Orbitron"/>
              </a:rPr>
              <a:t>BGR vs RGB FORMAT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57188" y="1388679"/>
            <a:ext cx="342891" cy="2896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188" y="1781174"/>
            <a:ext cx="5181470" cy="5619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Different libraries use different color formats. Understanding this is crucial for proper image processing.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188" y="2571750"/>
            <a:ext cx="5181470" cy="1676400"/>
          </a:xfrm>
          <a:prstGeom prst="roundRect">
            <a:avLst>
              <a:gd name="adj" fmla="val 13636"/>
            </a:avLst>
          </a:prstGeom>
          <a:solidFill>
            <a:srgbClr val="00D9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-314972" y="3343910"/>
            <a:ext cx="1676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85782" y="2791239"/>
            <a:ext cx="266693" cy="2087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6773" y="2762249"/>
            <a:ext cx="6000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OpenCV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782" y="3143250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2476" y="3352800"/>
            <a:ext cx="761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09664" y="3143250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76358" y="3352800"/>
            <a:ext cx="761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3546" y="3143250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00239" y="3352800"/>
            <a:ext cx="761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782" y="3829050"/>
            <a:ext cx="476238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 </a:t>
            </a:r>
            <a:r>
              <a:rPr sz="95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Blue → Green → Red</a:t>
            </a: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188" y="4400550"/>
            <a:ext cx="5181470" cy="1676400"/>
          </a:xfrm>
          <a:prstGeom prst="roundRect">
            <a:avLst>
              <a:gd name="adj" fmla="val 13636"/>
            </a:avLst>
          </a:prstGeom>
          <a:solidFill>
            <a:srgbClr val="00D9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-314972" y="5172710"/>
            <a:ext cx="1676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18573" y="4591050"/>
            <a:ext cx="201113" cy="26669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66773" y="4591050"/>
            <a:ext cx="80960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MediaPipe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782" y="4972050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2476" y="5181599"/>
            <a:ext cx="761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09664" y="4972050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76358" y="5181599"/>
            <a:ext cx="761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33546" y="4972050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00239" y="5181599"/>
            <a:ext cx="761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782" y="5657850"/>
            <a:ext cx="476238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 </a:t>
            </a:r>
            <a:r>
              <a:rPr sz="95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Red → Green → Blue</a:t>
            </a: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53036" y="1438274"/>
            <a:ext cx="5181470" cy="4791075"/>
          </a:xfrm>
          <a:prstGeom prst="roundRect">
            <a:avLst>
              <a:gd name="adj" fmla="val 4771"/>
            </a:avLst>
          </a:prstGeom>
          <a:solidFill>
            <a:srgbClr val="FF5F56">
              <a:alpha val="10000"/>
            </a:srgbClr>
          </a:solidFill>
          <a:ln w="16510">
            <a:solidFill>
              <a:srgbClr val="FF5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876878" y="1812377"/>
            <a:ext cx="342891" cy="24239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334066" y="1781174"/>
            <a:ext cx="192400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Conversion Required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6878" y="2333624"/>
            <a:ext cx="4533786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1560"/>
              </a:spcAft>
            </a:pPr>
            <a:r>
              <a:rPr sz="119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When using </a:t>
            </a:r>
            <a:r>
              <a:rPr sz="1196" b="1">
                <a:solidFill>
                  <a:srgbClr val="00D9FF"/>
                </a:solidFill>
                <a:latin typeface="Rajdhani"/>
                <a:rFonts ascii="Rajdhani" hAnsi="Rajdhani" eastAsia="Rajdhani" cs="Rajdhani"/>
              </a:rPr>
              <a:t>MediaPipe</a:t>
            </a:r>
            <a:r>
              <a:rPr sz="119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with OpenCV, you must convert from BGR to RGB format.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76878" y="3181350"/>
            <a:ext cx="4533786" cy="1447800"/>
          </a:xfrm>
          <a:prstGeom prst="roundRect">
            <a:avLst>
              <a:gd name="adj" fmla="val 10526"/>
            </a:avLst>
          </a:prstGeom>
          <a:solidFill>
            <a:srgbClr val="000000">
              <a:alpha val="50000"/>
            </a:srgbClr>
          </a:solidFill>
          <a:ln w="1651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124521" y="3499484"/>
            <a:ext cx="228594" cy="12572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429314" y="3429000"/>
            <a:ext cx="11715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Conversion Code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76878" y="4857750"/>
            <a:ext cx="4533786" cy="1047749"/>
          </a:xfrm>
          <a:prstGeom prst="roundRect">
            <a:avLst>
              <a:gd name="adj" fmla="val 14545"/>
            </a:avLst>
          </a:prstGeom>
          <a:solidFill>
            <a:srgbClr val="00D9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029274" y="5027294"/>
            <a:ext cx="228594" cy="19430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334066" y="5010149"/>
            <a:ext cx="3924201" cy="7429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This ensures proper color interpretation when passing frames between libraries. Failure to convert can cause incorrect colors in output.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29634" y="6362700"/>
            <a:ext cx="9524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SESSION 1.2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27"/>
            </a:gs>
            <a:gs pos="50000">
              <a:srgbClr val="1A1F3A"/>
            </a:gs>
            <a:gs pos="100000">
              <a:srgbClr val="2D1B4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6753056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00D9FF"/>
                </a:solidFill>
                <a:latin typeface="Orbitron"/>
                <a:rFonts ascii="Orbitron" hAnsi="Orbitron" eastAsia="Orbitron" cs="Orbitron"/>
              </a:rPr>
              <a:t>READING &amp; DISPLAYING IMAGES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1317077"/>
            <a:ext cx="342891" cy="24239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09584" y="1914525"/>
            <a:ext cx="5371965" cy="1600200"/>
          </a:xfrm>
          <a:prstGeom prst="roundRect">
            <a:avLst>
              <a:gd name="adj" fmla="val 14285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124476" y="2648585"/>
            <a:ext cx="1600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76278" y="2277940"/>
            <a:ext cx="304792" cy="2256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95367" y="2143125"/>
            <a:ext cx="13715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cv2.imread()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367" y="2447924"/>
            <a:ext cx="137156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Load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278" y="2790824"/>
            <a:ext cx="4876678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Reads an image from the specified file path and loads it into memory as a NumPy array.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4" y="1914525"/>
            <a:ext cx="5371965" cy="1600200"/>
          </a:xfrm>
          <a:prstGeom prst="roundRect">
            <a:avLst>
              <a:gd name="adj" fmla="val 14285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5476084" y="2648585"/>
            <a:ext cx="1600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76838" y="2273544"/>
            <a:ext cx="304792" cy="23446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95927" y="2143125"/>
            <a:ext cx="13715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cv2.imshow()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95927" y="2447924"/>
            <a:ext cx="137156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Display 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6838" y="2790824"/>
            <a:ext cx="4876678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Displays an image in a window. The window automatically fits to the image size.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584" y="3743325"/>
            <a:ext cx="5371965" cy="1600200"/>
          </a:xfrm>
          <a:prstGeom prst="roundRect">
            <a:avLst>
              <a:gd name="adj" fmla="val 14285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-124476" y="4477385"/>
            <a:ext cx="1600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76278" y="4125790"/>
            <a:ext cx="304792" cy="18756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95367" y="3971925"/>
            <a:ext cx="148586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cv2.waitKey()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5367" y="4276725"/>
            <a:ext cx="148586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Wait for Key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278" y="4619625"/>
            <a:ext cx="4876678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Pauses the program execution for specified milliseconds. </a:t>
            </a:r>
            <a:r>
              <a:rPr sz="95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0</a:t>
            </a:r>
            <a:r>
              <a:rPr sz="95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= wait indefinitely until any key is pressed.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0144" y="3743325"/>
            <a:ext cx="5371965" cy="1600200"/>
          </a:xfrm>
          <a:prstGeom prst="roundRect">
            <a:avLst>
              <a:gd name="adj" fmla="val 14285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5476084" y="4477385"/>
            <a:ext cx="1600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76838" y="4125790"/>
            <a:ext cx="304792" cy="18756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895927" y="3971925"/>
            <a:ext cx="262883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cv2.destroyAllWindows()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5927" y="4276725"/>
            <a:ext cx="262883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Close Windows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6838" y="4619625"/>
            <a:ext cx="4876678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Closes all OpenCV windows that were created. Essential for cleanup before program ends.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9584" y="5648325"/>
            <a:ext cx="10972525" cy="952499"/>
          </a:xfrm>
          <a:prstGeom prst="roundRect">
            <a:avLst>
              <a:gd name="adj" fmla="val 24000"/>
            </a:avLst>
          </a:prstGeom>
          <a:solidFill>
            <a:srgbClr val="00D9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00079" y="5859117"/>
            <a:ext cx="266693" cy="22611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81070" y="5838824"/>
            <a:ext cx="56862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Common Usage Pattern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1070" y="6181724"/>
            <a:ext cx="568628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These four functions work together: </a:t>
            </a:r>
            <a:r>
              <a:rPr sz="956" b="0">
                <a:solidFill>
                  <a:srgbClr val="00D9FF"/>
                </a:solidFill>
                <a:latin typeface="Rajdhani"/>
                <a:rFonts ascii="Rajdhani" hAnsi="Rajdhani" eastAsia="Rajdhani" cs="Rajdhani"/>
              </a:rPr>
              <a:t>load image → display → wait for input → close window</a:t>
            </a:r>
            <a:r>
              <a:rPr sz="95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29634" y="6562725"/>
            <a:ext cx="9524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SESSION 1.2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27"/>
            </a:gs>
            <a:gs pos="50000">
              <a:srgbClr val="1A1F3A"/>
            </a:gs>
            <a:gs pos="100000">
              <a:srgbClr val="2D1B4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6886402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00D9FF"/>
                </a:solidFill>
                <a:latin typeface="Orbitron"/>
                <a:rFonts ascii="Orbitron" hAnsi="Orbitron" eastAsia="Orbitron" cs="Orbitron"/>
              </a:rPr>
              <a:t>CODE EXAMPLE: DISPLAY IMAGE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57188" y="1337163"/>
            <a:ext cx="304792" cy="1641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188" y="1685925"/>
            <a:ext cx="518147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This script loads an image, displays it, and waits for user input before closing.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188" y="2143125"/>
            <a:ext cx="5181470" cy="5562600"/>
          </a:xfrm>
          <a:prstGeom prst="roundRect">
            <a:avLst>
              <a:gd name="adj" fmla="val 4411"/>
            </a:avLst>
          </a:prstGeom>
          <a:solidFill>
            <a:srgbClr val="000000">
              <a:alpha val="60000"/>
            </a:srgbClr>
          </a:solidFill>
          <a:ln w="1651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4832" y="2409825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5327" y="2409825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85822" y="2409825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2516" y="2390774"/>
            <a:ext cx="109534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8B9DC3"/>
                </a:solidFill>
                <a:latin typeface="Roboto Mono"/>
                <a:rFonts ascii="Roboto Mono" hAnsi="Roboto Mono" eastAsia="Roboto Mono" cs="Roboto Mono"/>
              </a:rPr>
              <a:t>display_image.py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553036" y="1671271"/>
            <a:ext cx="304792" cy="25790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53036" y="2181225"/>
            <a:ext cx="5181470" cy="761999"/>
          </a:xfrm>
          <a:prstGeom prst="roundRect">
            <a:avLst>
              <a:gd name="adj" fmla="val 20000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05432" y="2333624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7828" y="2428875"/>
            <a:ext cx="761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719" y="2333624"/>
            <a:ext cx="43813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import cv2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719" y="2600325"/>
            <a:ext cx="438139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Import OpenCV library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53036" y="3057525"/>
            <a:ext cx="5181470" cy="761999"/>
          </a:xfrm>
          <a:prstGeom prst="roundRect">
            <a:avLst>
              <a:gd name="adj" fmla="val 20000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05432" y="3209925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7828" y="3305174"/>
            <a:ext cx="761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719" y="3209925"/>
            <a:ext cx="43813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img = cv2.imread(...)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719" y="3476624"/>
            <a:ext cx="438139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Load image into NumPy array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53036" y="3933824"/>
            <a:ext cx="5181470" cy="761999"/>
          </a:xfrm>
          <a:prstGeom prst="roundRect">
            <a:avLst>
              <a:gd name="adj" fmla="val 20000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05432" y="4086225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7828" y="4181474"/>
            <a:ext cx="761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0719" y="4086225"/>
            <a:ext cx="43813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img.flags.writeable = False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0719" y="4352924"/>
            <a:ext cx="438139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Make image read-only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53036" y="4810124"/>
            <a:ext cx="5181470" cy="761999"/>
          </a:xfrm>
          <a:prstGeom prst="roundRect">
            <a:avLst>
              <a:gd name="adj" fmla="val 20000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705432" y="4962525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7828" y="5057775"/>
            <a:ext cx="761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0719" y="4962525"/>
            <a:ext cx="43813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cv2.imshow("...", img)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0719" y="5229225"/>
            <a:ext cx="438139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Display image in window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53036" y="5686425"/>
            <a:ext cx="5181470" cy="761999"/>
          </a:xfrm>
          <a:prstGeom prst="roundRect">
            <a:avLst>
              <a:gd name="adj" fmla="val 20000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705432" y="5838824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19729" y="5934075"/>
            <a:ext cx="16192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00719" y="5838824"/>
            <a:ext cx="43813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cv2.waitKey(0)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0719" y="6105525"/>
            <a:ext cx="438139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Wait indefinitely for key press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53036" y="6562725"/>
            <a:ext cx="5181470" cy="761999"/>
          </a:xfrm>
          <a:prstGeom prst="roundRect">
            <a:avLst>
              <a:gd name="adj" fmla="val 20000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705432" y="6715125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19729" y="6810374"/>
            <a:ext cx="16192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00719" y="6715125"/>
            <a:ext cx="43813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cv2.destroyAllWindows()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719" y="6981824"/>
            <a:ext cx="438139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Close all OpenCV windows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29634" y="7667624"/>
            <a:ext cx="9524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SESSION 1.2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27"/>
            </a:gs>
            <a:gs pos="50000">
              <a:srgbClr val="1A1F3A"/>
            </a:gs>
            <a:gs pos="100000">
              <a:srgbClr val="2D1B4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6734006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00D9FF"/>
                </a:solidFill>
                <a:latin typeface="Orbitron"/>
                <a:rFonts ascii="Orbitron" hAnsi="Orbitron" eastAsia="Orbitron" cs="Orbitron"/>
              </a:rPr>
              <a:t>ACCESSING IMAGE PROPERTIES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57188" y="1880088"/>
            <a:ext cx="304792" cy="1641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188" y="2228850"/>
            <a:ext cx="518147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Extract image dimensions and structure information from the NumPy array.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188" y="2686050"/>
            <a:ext cx="5181470" cy="3181350"/>
          </a:xfrm>
          <a:prstGeom prst="roundRect">
            <a:avLst>
              <a:gd name="adj" fmla="val 7185"/>
            </a:avLst>
          </a:prstGeom>
          <a:solidFill>
            <a:srgbClr val="000000">
              <a:alpha val="60000"/>
            </a:srgbClr>
          </a:solidFill>
          <a:ln w="1651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4832" y="295275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5327" y="295275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85822" y="295275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2516" y="2933699"/>
            <a:ext cx="130489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8B9DC3"/>
                </a:solidFill>
                <a:latin typeface="Roboto Mono"/>
                <a:rFonts ascii="Roboto Mono" hAnsi="Roboto Mono" eastAsia="Roboto Mono" cs="Roboto Mono"/>
              </a:rPr>
              <a:t>image_properties.py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553036" y="1349619"/>
            <a:ext cx="304792" cy="23446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53036" y="1847849"/>
            <a:ext cx="5181470" cy="761999"/>
          </a:xfrm>
          <a:prstGeom prst="roundRect">
            <a:avLst>
              <a:gd name="adj" fmla="val 30000"/>
            </a:avLst>
          </a:prstGeom>
          <a:solidFill>
            <a:srgbClr val="00D9FF">
              <a:alpha val="8000"/>
            </a:srgbClr>
          </a:solidFill>
          <a:ln w="1651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53036" y="2838450"/>
            <a:ext cx="5181470" cy="838200"/>
          </a:xfrm>
          <a:prstGeom prst="roundRect">
            <a:avLst>
              <a:gd name="adj" fmla="val 18181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05432" y="299084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86402" y="3086100"/>
            <a:ext cx="1047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017" y="2990849"/>
            <a:ext cx="426709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Height (Rows)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017" y="3257550"/>
            <a:ext cx="42670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720 pixels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53036" y="3790949"/>
            <a:ext cx="5181470" cy="838200"/>
          </a:xfrm>
          <a:prstGeom prst="roundRect">
            <a:avLst>
              <a:gd name="adj" fmla="val 18181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05432" y="394335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86402" y="4038599"/>
            <a:ext cx="1047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017" y="3943350"/>
            <a:ext cx="426709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Width (Columns)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017" y="4210049"/>
            <a:ext cx="42670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1080 pixels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53036" y="4743450"/>
            <a:ext cx="5181470" cy="838200"/>
          </a:xfrm>
          <a:prstGeom prst="roundRect">
            <a:avLst>
              <a:gd name="adj" fmla="val 18181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05432" y="489584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6402" y="4991100"/>
            <a:ext cx="1047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017" y="4895849"/>
            <a:ext cx="426709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Color Channels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017" y="5162550"/>
            <a:ext cx="42670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3 (BGR)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53036" y="5810249"/>
            <a:ext cx="5181470" cy="533399"/>
          </a:xfrm>
          <a:prstGeom prst="roundRect">
            <a:avLst>
              <a:gd name="adj" fmla="val 42857"/>
            </a:avLst>
          </a:prstGeom>
          <a:solidFill>
            <a:srgbClr val="00D9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705432" y="5979795"/>
            <a:ext cx="228594" cy="19430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010224" y="5962650"/>
            <a:ext cx="40384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The image object is a </a:t>
            </a:r>
            <a:r>
              <a:rPr sz="837" b="1">
                <a:solidFill>
                  <a:srgbClr val="00D9FF"/>
                </a:solidFill>
                <a:latin typeface="Rajdhani"/>
                <a:rFonts ascii="Rajdhani" hAnsi="Rajdhani" eastAsia="Rajdhani" cs="Rajdhani"/>
              </a:rPr>
              <a:t>3D NumPy Array</a:t>
            </a:r>
            <a:r>
              <a:rPr sz="837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with shape (height, width, channels)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29634" y="6362700"/>
            <a:ext cx="9524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SESSION 1.2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27"/>
            </a:gs>
            <a:gs pos="50000">
              <a:srgbClr val="1A1F3A"/>
            </a:gs>
            <a:gs pos="100000">
              <a:srgbClr val="2D1B4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6705432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00D9FF"/>
                </a:solidFill>
                <a:latin typeface="Orbitron"/>
                <a:rFonts ascii="Orbitron" hAnsi="Orbitron" eastAsia="Orbitron" cs="Orbitron"/>
              </a:rPr>
              <a:t>UNDERSTANDING IMAGE SHAPE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57188" y="1504217"/>
            <a:ext cx="304792" cy="2491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188" y="1933574"/>
            <a:ext cx="5181470" cy="5619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The image is stored as a </a:t>
            </a:r>
            <a:r>
              <a:rPr sz="1076" b="1">
                <a:solidFill>
                  <a:srgbClr val="00D9FF"/>
                </a:solidFill>
                <a:latin typeface="Rajdhani"/>
                <a:rFonts ascii="Rajdhani" hAnsi="Rajdhani" eastAsia="Rajdhani" cs="Rajdhani"/>
              </a:rPr>
              <a:t>3-dimensional NumPy array</a:t>
            </a:r>
            <a:r>
              <a:rPr sz="107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with three key dimensions.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188" y="2800350"/>
            <a:ext cx="5181470" cy="3429000"/>
          </a:xfrm>
          <a:prstGeom prst="roundRect">
            <a:avLst>
              <a:gd name="adj" fmla="val 6666"/>
            </a:avLst>
          </a:prstGeom>
          <a:solidFill>
            <a:srgbClr val="00D9FF">
              <a:alpha val="8000"/>
            </a:srgbClr>
          </a:solidFill>
          <a:ln w="1651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3199985"/>
            <a:ext cx="266693" cy="191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2020" y="3124200"/>
            <a:ext cx="360035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Shape: (720, 1080, 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030" y="3695699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9149" y="3848099"/>
            <a:ext cx="13334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1110" y="3695699"/>
            <a:ext cx="373370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First Dimension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110" y="396239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Height: 720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33606" y="4029075"/>
            <a:ext cx="8381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rows of pixels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030" y="4495799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9149" y="4648200"/>
            <a:ext cx="13334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110" y="4495799"/>
            <a:ext cx="373370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Second Dimension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110" y="4762500"/>
            <a:ext cx="109534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Width: 1080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0755" y="4829175"/>
            <a:ext cx="10572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columns of pixels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030" y="5295899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9149" y="5448300"/>
            <a:ext cx="13334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110" y="5295899"/>
            <a:ext cx="373370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Third Dimension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1110" y="5562600"/>
            <a:ext cx="107629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Channels: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71705" y="5629275"/>
            <a:ext cx="100962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BGR color values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53036" y="1290271"/>
            <a:ext cx="304792" cy="257907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553036" y="1800225"/>
            <a:ext cx="5181470" cy="1371600"/>
          </a:xfrm>
          <a:prstGeom prst="roundRect">
            <a:avLst>
              <a:gd name="adj" fmla="val 16666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5933276" y="2419985"/>
            <a:ext cx="1371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819729" y="2057814"/>
            <a:ext cx="266693" cy="20872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200719" y="2028825"/>
            <a:ext cx="13715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Height Dimension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9729" y="2447924"/>
            <a:ext cx="4686182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720 rows of pixels stacked vertically. Each row contains multiple pixels across the width.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53036" y="3362324"/>
            <a:ext cx="5181470" cy="1371600"/>
          </a:xfrm>
          <a:prstGeom prst="roundRect">
            <a:avLst>
              <a:gd name="adj" fmla="val 16666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 rot="16200000">
            <a:off x="5933276" y="3982084"/>
            <a:ext cx="1371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819729" y="3628610"/>
            <a:ext cx="266693" cy="19132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200719" y="3590924"/>
            <a:ext cx="13239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Width Dimension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9729" y="4010024"/>
            <a:ext cx="4686182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1080 columns of pixels arranged horizontally. Each column contains a single pixel.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53036" y="4924424"/>
            <a:ext cx="5181470" cy="1514475"/>
          </a:xfrm>
          <a:prstGeom prst="roundRect">
            <a:avLst>
              <a:gd name="adj" fmla="val 15094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5861839" y="5615621"/>
            <a:ext cx="15144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819729" y="5173317"/>
            <a:ext cx="266693" cy="22611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200719" y="5153024"/>
            <a:ext cx="116202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Color Channels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9729" y="5572125"/>
            <a:ext cx="468618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Each pixel has 3 values representing </a:t>
            </a:r>
            <a:r>
              <a:rPr sz="95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Blue, Green, Red</a:t>
            </a:r>
            <a:r>
              <a:rPr sz="95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intensity (0-255). 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19729" y="5934075"/>
            <a:ext cx="304792" cy="276225"/>
          </a:xfrm>
          <a:prstGeom prst="roundRect">
            <a:avLst>
              <a:gd name="adj" fmla="val 27586"/>
            </a:avLst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19729" y="5934075"/>
            <a:ext cx="304792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B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00719" y="5934075"/>
            <a:ext cx="304792" cy="276225"/>
          </a:xfrm>
          <a:prstGeom prst="roundRect">
            <a:avLst>
              <a:gd name="adj" fmla="val 27586"/>
            </a:avLst>
          </a:prstGeom>
          <a:solidFill>
            <a:srgbClr val="00FF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00719" y="5934075"/>
            <a:ext cx="304792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572185" y="5934075"/>
            <a:ext cx="295267" cy="276225"/>
          </a:xfrm>
          <a:prstGeom prst="roundRect">
            <a:avLst>
              <a:gd name="adj" fmla="val 27586"/>
            </a:avLst>
          </a:prstGeom>
          <a:solidFill>
            <a:srgbClr val="0000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72185" y="5934075"/>
            <a:ext cx="29526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29634" y="6400800"/>
            <a:ext cx="9524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SESSION 1.2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27"/>
            </a:gs>
            <a:gs pos="50000">
              <a:srgbClr val="1A1F3A"/>
            </a:gs>
            <a:gs pos="100000">
              <a:srgbClr val="2D1B4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6372065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00D9FF"/>
                </a:solidFill>
                <a:latin typeface="Orbitron"/>
                <a:rFonts ascii="Orbitron" hAnsi="Orbitron" eastAsia="Orbitron" cs="Orbitron"/>
              </a:rPr>
              <a:t>DRAWING SHAPES ON IMAGES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1305253"/>
            <a:ext cx="342891" cy="2660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584" y="1762125"/>
            <a:ext cx="1097252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OpenCV provides powerful drawing functions to mark and visualize images with various shapes and text overlays.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" y="2457450"/>
            <a:ext cx="5333866" cy="2009774"/>
          </a:xfrm>
          <a:prstGeom prst="roundRect">
            <a:avLst>
              <a:gd name="adj" fmla="val 11374"/>
            </a:avLst>
          </a:prstGeom>
          <a:solidFill>
            <a:srgbClr val="00D9FF">
              <a:alpha val="5000"/>
            </a:srgbClr>
          </a:solidFill>
          <a:ln w="1651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3426" y="2781300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66773" y="2985594"/>
            <a:ext cx="342891" cy="2010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33506" y="2800350"/>
            <a:ext cx="137156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cv2.line()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3506" y="3143250"/>
            <a:ext cx="137156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Draw 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26" y="3581400"/>
            <a:ext cx="4686182" cy="5619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Create straight lines between two points with customizable color and thickness.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243" y="2457450"/>
            <a:ext cx="5333866" cy="2009774"/>
          </a:xfrm>
          <a:prstGeom prst="roundRect">
            <a:avLst>
              <a:gd name="adj" fmla="val 11374"/>
            </a:avLst>
          </a:prstGeom>
          <a:solidFill>
            <a:srgbClr val="00D9FF">
              <a:alpha val="5000"/>
            </a:srgbClr>
          </a:solidFill>
          <a:ln w="1651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72085" y="2781300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705432" y="2964902"/>
            <a:ext cx="342891" cy="24239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72165" y="2800350"/>
            <a:ext cx="205734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cv2.rectangle()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2165" y="3143250"/>
            <a:ext cx="20573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Draw Rectangles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2085" y="3581400"/>
            <a:ext cx="4686182" cy="5619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Draw rectangular boxes with filled or outline options for highlighting regions.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584" y="4762500"/>
            <a:ext cx="5333866" cy="2009774"/>
          </a:xfrm>
          <a:prstGeom prst="roundRect">
            <a:avLst>
              <a:gd name="adj" fmla="val 11374"/>
            </a:avLst>
          </a:prstGeom>
          <a:solidFill>
            <a:srgbClr val="00D9FF">
              <a:alpha val="5000"/>
            </a:srgbClr>
          </a:solidFill>
          <a:ln w="1651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3426" y="5086350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66773" y="5246304"/>
            <a:ext cx="342891" cy="28969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733506" y="5105400"/>
            <a:ext cx="164778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cv2.circle()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3506" y="5448300"/>
            <a:ext cx="164778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Draw Circles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426" y="5886450"/>
            <a:ext cx="4686182" cy="5619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Create circles with defined center, radius, and customizable appearance.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8243" y="4762500"/>
            <a:ext cx="5333866" cy="2009774"/>
          </a:xfrm>
          <a:prstGeom prst="roundRect">
            <a:avLst>
              <a:gd name="adj" fmla="val 11374"/>
            </a:avLst>
          </a:prstGeom>
          <a:solidFill>
            <a:srgbClr val="00D9FF">
              <a:alpha val="5000"/>
            </a:srgbClr>
          </a:solidFill>
          <a:ln w="1651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72085" y="5086350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705432" y="5277342"/>
            <a:ext cx="342891" cy="22761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372165" y="5105400"/>
            <a:ext cx="178113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cv2.putText()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72165" y="5448300"/>
            <a:ext cx="178113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Write 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2085" y="5886450"/>
            <a:ext cx="4686182" cy="5619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Add text annotations with various fonts, sizes, and styles for labeling.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29634" y="6724649"/>
            <a:ext cx="9524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SESSION 1.2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27"/>
            </a:gs>
            <a:gs pos="50000">
              <a:srgbClr val="1A1F3A"/>
            </a:gs>
            <a:gs pos="100000">
              <a:srgbClr val="2D1B4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3390815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00D9FF"/>
                </a:solidFill>
                <a:latin typeface="Orbitron"/>
                <a:rFonts ascii="Orbitron" hAnsi="Orbitron" eastAsia="Orbitron" cs="Orbitron"/>
              </a:rPr>
              <a:t>DRAWING LINES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57188" y="1965813"/>
            <a:ext cx="304792" cy="16412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188" y="2581275"/>
            <a:ext cx="5181470" cy="3781424"/>
          </a:xfrm>
          <a:prstGeom prst="roundRect">
            <a:avLst>
              <a:gd name="adj" fmla="val 6045"/>
            </a:avLst>
          </a:prstGeom>
          <a:solidFill>
            <a:srgbClr val="000000">
              <a:alpha val="60000"/>
            </a:srgbClr>
          </a:solidFill>
          <a:ln w="1651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4832" y="2847974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5327" y="2847974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5822" y="2847974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52516" y="2828925"/>
            <a:ext cx="81912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8B9DC3"/>
                </a:solidFill>
                <a:latin typeface="Roboto Mono"/>
                <a:rFonts ascii="Roboto Mono" hAnsi="Roboto Mono" eastAsia="Roboto Mono" cs="Roboto Mono"/>
              </a:rPr>
              <a:t>draw_line.py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553036" y="1290271"/>
            <a:ext cx="304792" cy="25790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53036" y="1800225"/>
            <a:ext cx="5181470" cy="914400"/>
          </a:xfrm>
          <a:prstGeom prst="roundRect">
            <a:avLst>
              <a:gd name="adj" fmla="val 16666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6161876" y="2191385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81630" y="1990724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62600" y="2105024"/>
            <a:ext cx="952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1215" y="1990724"/>
            <a:ext cx="415279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91215" y="2257425"/>
            <a:ext cx="41527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Target image array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53036" y="2867025"/>
            <a:ext cx="5181470" cy="914400"/>
          </a:xfrm>
          <a:prstGeom prst="roundRect">
            <a:avLst>
              <a:gd name="adj" fmla="val 16666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6161876" y="3258185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81630" y="305752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2600" y="3171825"/>
            <a:ext cx="952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91215" y="3057525"/>
            <a:ext cx="415279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Start Point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91215" y="3324225"/>
            <a:ext cx="41527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(0, 0) - Starting coordinates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53036" y="3933824"/>
            <a:ext cx="5181470" cy="914400"/>
          </a:xfrm>
          <a:prstGeom prst="roundRect">
            <a:avLst>
              <a:gd name="adj" fmla="val 16666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6161876" y="4324984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81630" y="4124324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62600" y="4238624"/>
            <a:ext cx="952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91215" y="4124324"/>
            <a:ext cx="415279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End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91215" y="4391025"/>
            <a:ext cx="41527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(300, 300) - Ending coordinates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53036" y="5000625"/>
            <a:ext cx="5181470" cy="914400"/>
          </a:xfrm>
          <a:prstGeom prst="roundRect">
            <a:avLst>
              <a:gd name="adj" fmla="val 16666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6161876" y="5391785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781630" y="519112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62600" y="5305425"/>
            <a:ext cx="952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91215" y="5191125"/>
            <a:ext cx="415279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Color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1215" y="5457825"/>
            <a:ext cx="41527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(255, 0, 0) - BGR Blue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53036" y="6067424"/>
            <a:ext cx="5181470" cy="914400"/>
          </a:xfrm>
          <a:prstGeom prst="roundRect">
            <a:avLst>
              <a:gd name="adj" fmla="val 16666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6161876" y="6458584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781630" y="625792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62600" y="6372225"/>
            <a:ext cx="952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91215" y="6257925"/>
            <a:ext cx="415279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Thickness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91215" y="6524624"/>
            <a:ext cx="41527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5 pixels wide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29634" y="6943725"/>
            <a:ext cx="9524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SESSION 1.2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27"/>
            </a:gs>
            <a:gs pos="50000">
              <a:srgbClr val="1A1F3A"/>
            </a:gs>
            <a:gs pos="100000">
              <a:srgbClr val="2D1B4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5057648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00D9FF"/>
                </a:solidFill>
                <a:latin typeface="Orbitron"/>
                <a:rFonts ascii="Orbitron" hAnsi="Orbitron" eastAsia="Orbitron" cs="Orbitron"/>
              </a:rPr>
              <a:t>DRAWING RECTANGLES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57188" y="1546713"/>
            <a:ext cx="304792" cy="16412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188" y="2162174"/>
            <a:ext cx="5181470" cy="4667249"/>
          </a:xfrm>
          <a:prstGeom prst="roundRect">
            <a:avLst>
              <a:gd name="adj" fmla="val 4897"/>
            </a:avLst>
          </a:prstGeom>
          <a:solidFill>
            <a:srgbClr val="000000">
              <a:alpha val="60000"/>
            </a:srgbClr>
          </a:solidFill>
          <a:ln w="1651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4832" y="2428875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5327" y="2428875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5822" y="2428875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52516" y="2409825"/>
            <a:ext cx="116202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8B9DC3"/>
                </a:solidFill>
                <a:latin typeface="Roboto Mono"/>
                <a:rFonts ascii="Roboto Mono" hAnsi="Roboto Mono" eastAsia="Roboto Mono" cs="Roboto Mono"/>
              </a:rPr>
              <a:t>draw_rectangle.py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553036" y="1290271"/>
            <a:ext cx="304792" cy="25790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53036" y="1800225"/>
            <a:ext cx="5181470" cy="914400"/>
          </a:xfrm>
          <a:prstGeom prst="roundRect">
            <a:avLst>
              <a:gd name="adj" fmla="val 16666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6161876" y="2191385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81630" y="1990724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62600" y="2105024"/>
            <a:ext cx="952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1215" y="1990724"/>
            <a:ext cx="415279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91215" y="2257425"/>
            <a:ext cx="41527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Target image array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53036" y="2867025"/>
            <a:ext cx="5181470" cy="914400"/>
          </a:xfrm>
          <a:prstGeom prst="roundRect">
            <a:avLst>
              <a:gd name="adj" fmla="val 16666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6161876" y="3258185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81630" y="305752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2600" y="3171825"/>
            <a:ext cx="952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91215" y="3057525"/>
            <a:ext cx="415279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Top Left Corner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91215" y="3324225"/>
            <a:ext cx="41527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(100, 100) - Upper-left coordinate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53036" y="3933824"/>
            <a:ext cx="5181470" cy="914400"/>
          </a:xfrm>
          <a:prstGeom prst="roundRect">
            <a:avLst>
              <a:gd name="adj" fmla="val 16666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6161876" y="4324984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81630" y="4124324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62600" y="4238624"/>
            <a:ext cx="952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91215" y="4124324"/>
            <a:ext cx="415279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Bottom Right Corner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91215" y="4391025"/>
            <a:ext cx="41527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(400, 300) - Lower-right coordinate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53036" y="5000625"/>
            <a:ext cx="5181470" cy="914400"/>
          </a:xfrm>
          <a:prstGeom prst="roundRect">
            <a:avLst>
              <a:gd name="adj" fmla="val 16666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6161876" y="5391785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781630" y="519112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62600" y="5305425"/>
            <a:ext cx="952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91215" y="5191125"/>
            <a:ext cx="415279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Color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1215" y="5457825"/>
            <a:ext cx="41527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(0, 255, 0) - BGR Green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53036" y="6067424"/>
            <a:ext cx="5181470" cy="971550"/>
          </a:xfrm>
          <a:prstGeom prst="roundRect">
            <a:avLst>
              <a:gd name="adj" fmla="val 15686"/>
            </a:avLst>
          </a:prstGeom>
          <a:solidFill>
            <a:srgbClr val="FF5F56">
              <a:alpha val="10000"/>
            </a:srgbClr>
          </a:solidFill>
          <a:ln w="16510">
            <a:solidFill>
              <a:srgbClr val="FF5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762580" y="6297267"/>
            <a:ext cx="266693" cy="22611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143571" y="6276975"/>
            <a:ext cx="43813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Thickness Tip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43571" y="6543675"/>
            <a:ext cx="438139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Use </a:t>
            </a:r>
            <a:r>
              <a:rPr sz="1076" b="1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-1</a:t>
            </a: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 for filled rectangle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29634" y="7000875"/>
            <a:ext cx="9524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SESSION 1.2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27"/>
            </a:gs>
            <a:gs pos="50000">
              <a:srgbClr val="1A1F3A"/>
            </a:gs>
            <a:gs pos="100000">
              <a:srgbClr val="2D1B4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398135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00D9FF"/>
                </a:solidFill>
                <a:latin typeface="Orbitron"/>
                <a:rFonts ascii="Orbitron" hAnsi="Orbitron" eastAsia="Orbitron" cs="Orbitron"/>
              </a:rPr>
              <a:t>DRAWING CIRCLES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57188" y="1841988"/>
            <a:ext cx="304792" cy="16412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188" y="2457450"/>
            <a:ext cx="5181470" cy="4076699"/>
          </a:xfrm>
          <a:prstGeom prst="roundRect">
            <a:avLst>
              <a:gd name="adj" fmla="val 5607"/>
            </a:avLst>
          </a:prstGeom>
          <a:solidFill>
            <a:srgbClr val="000000">
              <a:alpha val="60000"/>
            </a:srgbClr>
          </a:solidFill>
          <a:ln w="1651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4832" y="272415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5327" y="272415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5822" y="272415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52516" y="2705099"/>
            <a:ext cx="96200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8B9DC3"/>
                </a:solidFill>
                <a:latin typeface="Roboto Mono"/>
                <a:rFonts ascii="Roboto Mono" hAnsi="Roboto Mono" eastAsia="Roboto Mono" cs="Roboto Mono"/>
              </a:rPr>
              <a:t>draw_circle.py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553036" y="1290271"/>
            <a:ext cx="304792" cy="25790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53036" y="1800225"/>
            <a:ext cx="5181470" cy="914400"/>
          </a:xfrm>
          <a:prstGeom prst="roundRect">
            <a:avLst>
              <a:gd name="adj" fmla="val 16666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6161876" y="2191385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81630" y="1990724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62600" y="2105024"/>
            <a:ext cx="952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1215" y="1990724"/>
            <a:ext cx="415279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91215" y="2257425"/>
            <a:ext cx="41527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Target image array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53036" y="2867025"/>
            <a:ext cx="5181470" cy="914400"/>
          </a:xfrm>
          <a:prstGeom prst="roundRect">
            <a:avLst>
              <a:gd name="adj" fmla="val 16666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6161876" y="3258185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81630" y="305752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2600" y="3171825"/>
            <a:ext cx="952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91215" y="3057525"/>
            <a:ext cx="415279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Center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91215" y="3324225"/>
            <a:ext cx="41527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(200, 200) - Center coordinates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53036" y="3933824"/>
            <a:ext cx="5181470" cy="914400"/>
          </a:xfrm>
          <a:prstGeom prst="roundRect">
            <a:avLst>
              <a:gd name="adj" fmla="val 16666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6161876" y="4324984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81630" y="4124324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62600" y="4238624"/>
            <a:ext cx="952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91215" y="4124324"/>
            <a:ext cx="415279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Radius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91215" y="4391025"/>
            <a:ext cx="41527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50 pixels from center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53036" y="5000625"/>
            <a:ext cx="5181470" cy="914400"/>
          </a:xfrm>
          <a:prstGeom prst="roundRect">
            <a:avLst>
              <a:gd name="adj" fmla="val 16666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6161876" y="5391785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781630" y="519112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62600" y="5305425"/>
            <a:ext cx="952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91215" y="5191125"/>
            <a:ext cx="415279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Color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1215" y="5457825"/>
            <a:ext cx="41527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(0, 0, 255) - BGR Red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53036" y="6067424"/>
            <a:ext cx="5181470" cy="971550"/>
          </a:xfrm>
          <a:prstGeom prst="roundRect">
            <a:avLst>
              <a:gd name="adj" fmla="val 15686"/>
            </a:avLst>
          </a:prstGeom>
          <a:solidFill>
            <a:srgbClr val="FF5F56">
              <a:alpha val="10000"/>
            </a:srgbClr>
          </a:solidFill>
          <a:ln w="16510">
            <a:solidFill>
              <a:srgbClr val="FF5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762580" y="6297267"/>
            <a:ext cx="266693" cy="22611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143571" y="6276975"/>
            <a:ext cx="43813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Thickness Tip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43571" y="6543675"/>
            <a:ext cx="438139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Use </a:t>
            </a:r>
            <a:r>
              <a:rPr sz="1076" b="1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-1</a:t>
            </a: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 for filled circle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29634" y="7000875"/>
            <a:ext cx="9524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SESSION 1.2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27"/>
            </a:gs>
            <a:gs pos="50000">
              <a:srgbClr val="1A1F3A"/>
            </a:gs>
            <a:gs pos="100000">
              <a:srgbClr val="2D1B4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5495787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00D9FF"/>
                </a:solidFill>
                <a:latin typeface="Orbitron"/>
                <a:rFonts ascii="Orbitron" hAnsi="Orbitron" eastAsia="Orbitron" cs="Orbitron"/>
              </a:rPr>
              <a:t>WRITING TEXT ON IMAGES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57188" y="1375263"/>
            <a:ext cx="304792" cy="16412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188" y="1990724"/>
            <a:ext cx="5181470" cy="4371975"/>
          </a:xfrm>
          <a:prstGeom prst="roundRect">
            <a:avLst>
              <a:gd name="adj" fmla="val 5228"/>
            </a:avLst>
          </a:prstGeom>
          <a:solidFill>
            <a:srgbClr val="000000">
              <a:alpha val="60000"/>
            </a:srgbClr>
          </a:solidFill>
          <a:ln w="1651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4832" y="2257425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5327" y="2257425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5822" y="2257425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52516" y="2238375"/>
            <a:ext cx="89532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8B9DC3"/>
                </a:solidFill>
                <a:latin typeface="Roboto Mono"/>
                <a:rFonts ascii="Roboto Mono" hAnsi="Roboto Mono" eastAsia="Roboto Mono" cs="Roboto Mono"/>
              </a:rPr>
              <a:t>write_text.py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553036" y="1337896"/>
            <a:ext cx="304792" cy="25790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53036" y="1847849"/>
            <a:ext cx="2533586" cy="685800"/>
          </a:xfrm>
          <a:prstGeom prst="roundRect">
            <a:avLst>
              <a:gd name="adj" fmla="val 22222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7333" y="1962149"/>
            <a:ext cx="230499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333" y="2190749"/>
            <a:ext cx="230499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Target array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00919" y="1847849"/>
            <a:ext cx="2533586" cy="685800"/>
          </a:xfrm>
          <a:prstGeom prst="roundRect">
            <a:avLst>
              <a:gd name="adj" fmla="val 22222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15217" y="1962149"/>
            <a:ext cx="230499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15217" y="2190749"/>
            <a:ext cx="230499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String to display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53036" y="2647949"/>
            <a:ext cx="2533586" cy="685800"/>
          </a:xfrm>
          <a:prstGeom prst="roundRect">
            <a:avLst>
              <a:gd name="adj" fmla="val 22222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67333" y="2762249"/>
            <a:ext cx="230499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Origin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333" y="2990849"/>
            <a:ext cx="230499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(50, 50) position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00919" y="2647949"/>
            <a:ext cx="2533586" cy="685800"/>
          </a:xfrm>
          <a:prstGeom prst="roundRect">
            <a:avLst>
              <a:gd name="adj" fmla="val 22222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15217" y="2762249"/>
            <a:ext cx="230499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Font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5217" y="2990849"/>
            <a:ext cx="230499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SIMPLEX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53036" y="3448049"/>
            <a:ext cx="2533586" cy="685800"/>
          </a:xfrm>
          <a:prstGeom prst="roundRect">
            <a:avLst>
              <a:gd name="adj" fmla="val 22222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67333" y="3562349"/>
            <a:ext cx="230499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7333" y="3790949"/>
            <a:ext cx="230499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1.0 (size factor)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00919" y="3448049"/>
            <a:ext cx="2533586" cy="685800"/>
          </a:xfrm>
          <a:prstGeom prst="roundRect">
            <a:avLst>
              <a:gd name="adj" fmla="val 22222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15217" y="3562349"/>
            <a:ext cx="230499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Color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15217" y="3790949"/>
            <a:ext cx="230499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(255, 255, 255)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53036" y="4362450"/>
            <a:ext cx="5181470" cy="1981199"/>
          </a:xfrm>
          <a:prstGeom prst="roundRect">
            <a:avLst>
              <a:gd name="adj" fmla="val 11538"/>
            </a:avLst>
          </a:prstGeom>
          <a:solidFill>
            <a:srgbClr val="00D9FF">
              <a:alpha val="8000"/>
            </a:srgbClr>
          </a:solidFill>
          <a:ln w="1651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762580" y="4608195"/>
            <a:ext cx="228594" cy="19430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105472" y="4572000"/>
            <a:ext cx="106677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Available Fonts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62580" y="4952999"/>
            <a:ext cx="2343091" cy="342900"/>
          </a:xfrm>
          <a:prstGeom prst="roundRect">
            <a:avLst>
              <a:gd name="adj" fmla="val 22222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2580" y="4952999"/>
            <a:ext cx="23430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C5D6"/>
                </a:solidFill>
                <a:latin typeface="Roboto Mono"/>
                <a:rFonts ascii="Roboto Mono" hAnsi="Roboto Mono" eastAsia="Roboto Mono" cs="Roboto Mono"/>
              </a:rPr>
              <a:t>FONT_HERSHEY_SIMPLEX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1870" y="4952999"/>
            <a:ext cx="2343091" cy="342900"/>
          </a:xfrm>
          <a:prstGeom prst="roundRect">
            <a:avLst>
              <a:gd name="adj" fmla="val 22222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81870" y="4952999"/>
            <a:ext cx="23430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C5D6"/>
                </a:solidFill>
                <a:latin typeface="Roboto Mono"/>
                <a:rFonts ascii="Roboto Mono" hAnsi="Roboto Mono" eastAsia="Roboto Mono" cs="Roboto Mono"/>
              </a:rPr>
              <a:t>FONT_HERSHEY_PLAIN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62580" y="5372100"/>
            <a:ext cx="2343091" cy="342900"/>
          </a:xfrm>
          <a:prstGeom prst="roundRect">
            <a:avLst>
              <a:gd name="adj" fmla="val 22222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2580" y="5372100"/>
            <a:ext cx="23430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C5D6"/>
                </a:solidFill>
                <a:latin typeface="Roboto Mono"/>
                <a:rFonts ascii="Roboto Mono" hAnsi="Roboto Mono" eastAsia="Roboto Mono" cs="Roboto Mono"/>
              </a:rPr>
              <a:t>FONT_HERSHEY_DUPLEX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81870" y="5372100"/>
            <a:ext cx="2343091" cy="342900"/>
          </a:xfrm>
          <a:prstGeom prst="roundRect">
            <a:avLst>
              <a:gd name="adj" fmla="val 22222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81870" y="5372100"/>
            <a:ext cx="23430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C5D6"/>
                </a:solidFill>
                <a:latin typeface="Roboto Mono"/>
                <a:rFonts ascii="Roboto Mono" hAnsi="Roboto Mono" eastAsia="Roboto Mono" cs="Roboto Mono"/>
              </a:rPr>
              <a:t>FONT_HERSHEY_COMPLEX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62580" y="5791200"/>
            <a:ext cx="2343091" cy="342900"/>
          </a:xfrm>
          <a:prstGeom prst="roundRect">
            <a:avLst>
              <a:gd name="adj" fmla="val 22222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2580" y="5791200"/>
            <a:ext cx="23430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C5D6"/>
                </a:solidFill>
                <a:latin typeface="Roboto Mono"/>
                <a:rFonts ascii="Roboto Mono" hAnsi="Roboto Mono" eastAsia="Roboto Mono" cs="Roboto Mono"/>
              </a:rPr>
              <a:t>FONT_HERSHEY_TRIPLEX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81870" y="5791200"/>
            <a:ext cx="2343091" cy="342900"/>
          </a:xfrm>
          <a:prstGeom prst="roundRect">
            <a:avLst>
              <a:gd name="adj" fmla="val 22222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81870" y="5791200"/>
            <a:ext cx="23430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C5D6"/>
                </a:solidFill>
                <a:latin typeface="Roboto Mono"/>
                <a:rFonts ascii="Roboto Mono" hAnsi="Roboto Mono" eastAsia="Roboto Mono" cs="Roboto Mono"/>
              </a:rPr>
              <a:t>FONT_HERSHEY_SCRIPT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29634" y="6362700"/>
            <a:ext cx="9524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SESSION 1.2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27"/>
            </a:gs>
            <a:gs pos="50000">
              <a:srgbClr val="1A1F3A"/>
            </a:gs>
            <a:gs pos="100000">
              <a:srgbClr val="2D1B4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7305492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00D9FF"/>
                </a:solidFill>
                <a:latin typeface="Orbitron"/>
                <a:rFonts ascii="Orbitron" hAnsi="Orbitron" eastAsia="Orbitron" cs="Orbitron"/>
              </a:rPr>
              <a:t>CAPTURING VIDEO FROM WEBCAM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188" y="1447800"/>
            <a:ext cx="3962300" cy="47625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333866" y="1413312"/>
            <a:ext cx="342891" cy="18327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33866" y="1828800"/>
            <a:ext cx="914377" cy="38100"/>
          </a:xfrm>
          <a:prstGeom prst="rect">
            <a:avLst/>
          </a:prstGeom>
          <a:gradFill rotWithShape="1">
            <a:gsLst>
              <a:gs pos="0">
                <a:srgbClr val="00D9FF"/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33866" y="2400300"/>
            <a:ext cx="6400639" cy="771525"/>
          </a:xfrm>
          <a:prstGeom prst="roundRect">
            <a:avLst>
              <a:gd name="adj" fmla="val 29629"/>
            </a:avLst>
          </a:prstGeom>
          <a:solidFill>
            <a:srgbClr val="FF5F5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5014144" y="2720022"/>
            <a:ext cx="7715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600559" y="2695989"/>
            <a:ext cx="266693" cy="20872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81550" y="2628900"/>
            <a:ext cx="483857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 This is the </a:t>
            </a:r>
            <a:r>
              <a:rPr sz="1196" b="1">
                <a:solidFill>
                  <a:srgbClr val="00D9FF"/>
                </a:solidFill>
                <a:latin typeface="Rajdhani"/>
                <a:rFonts ascii="Rajdhani" hAnsi="Rajdhani" eastAsia="Rajdhani" cs="Rajdhani"/>
              </a:rPr>
              <a:t>most important part</a:t>
            </a:r>
            <a:r>
              <a:rPr sz="1196" b="0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 which is used in most projects!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3866" y="3400425"/>
            <a:ext cx="6400639" cy="876299"/>
          </a:xfrm>
          <a:prstGeom prst="roundRect">
            <a:avLst>
              <a:gd name="adj" fmla="val 17391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4945247" y="3789044"/>
            <a:ext cx="8762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52936" y="360997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667233" y="3748563"/>
            <a:ext cx="228594" cy="18002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62520" y="3590924"/>
            <a:ext cx="222879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Frame-by-Frame Capture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2520" y="3857625"/>
            <a:ext cx="22287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Continuous video stream processing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33866" y="4429125"/>
            <a:ext cx="6400639" cy="876299"/>
          </a:xfrm>
          <a:prstGeom prst="roundRect">
            <a:avLst>
              <a:gd name="adj" fmla="val 17391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945247" y="4817744"/>
            <a:ext cx="8762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552936" y="4638674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667233" y="4770120"/>
            <a:ext cx="228594" cy="19430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62520" y="4619625"/>
            <a:ext cx="288600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Real-Time 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2520" y="4886325"/>
            <a:ext cx="288600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Analyze and manipulate video frames instantly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33866" y="5457825"/>
            <a:ext cx="6400639" cy="876299"/>
          </a:xfrm>
          <a:prstGeom prst="roundRect">
            <a:avLst>
              <a:gd name="adj" fmla="val 17391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4945247" y="5846444"/>
            <a:ext cx="8762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552936" y="5667374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67233" y="5797391"/>
            <a:ext cx="228594" cy="19716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162520" y="5648325"/>
            <a:ext cx="26859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Project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62520" y="5915025"/>
            <a:ext cx="268598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Foundation for computer vision applications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29634" y="6362700"/>
            <a:ext cx="9524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SESSION 1.2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27"/>
            </a:gs>
            <a:gs pos="50000">
              <a:srgbClr val="1A1F3A"/>
            </a:gs>
            <a:gs pos="100000">
              <a:srgbClr val="2D1B4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4800479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00D9FF"/>
                </a:solidFill>
                <a:latin typeface="Orbitron"/>
                <a:rFonts ascii="Orbitron" hAnsi="Orbitron" eastAsia="Orbitron" cs="Orbitron"/>
              </a:rPr>
              <a:t>VIDEO CAPTURE CODE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57188" y="1337163"/>
            <a:ext cx="304792" cy="16412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188" y="1914525"/>
            <a:ext cx="6400639" cy="5267324"/>
          </a:xfrm>
          <a:prstGeom prst="roundRect">
            <a:avLst>
              <a:gd name="adj" fmla="val 4339"/>
            </a:avLst>
          </a:prstGeom>
          <a:solidFill>
            <a:srgbClr val="000000">
              <a:alpha val="70000"/>
            </a:srgbClr>
          </a:solidFill>
          <a:ln w="1651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4832" y="2181225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5327" y="2181225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5822" y="2181225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52516" y="2162174"/>
            <a:ext cx="109534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8B9DC3"/>
                </a:solidFill>
                <a:latin typeface="Roboto Mono"/>
                <a:rFonts ascii="Roboto Mono" hAnsi="Roboto Mono" eastAsia="Roboto Mono" cs="Roboto Mono"/>
              </a:rPr>
              <a:t>video_capture.py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772205" y="2071321"/>
            <a:ext cx="304792" cy="25790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72205" y="2581275"/>
            <a:ext cx="3962300" cy="838200"/>
          </a:xfrm>
          <a:prstGeom prst="roundRect">
            <a:avLst>
              <a:gd name="adj" fmla="val 18181"/>
            </a:avLst>
          </a:prstGeom>
          <a:solidFill>
            <a:srgbClr val="00D9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7402635" y="2950845"/>
            <a:ext cx="8382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53176" y="2733674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6047" y="2790824"/>
            <a:ext cx="1047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8463" y="2733674"/>
            <a:ext cx="122869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Camera Index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8463" y="3038475"/>
            <a:ext cx="12286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0 = default webcam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205" y="3571875"/>
            <a:ext cx="3962300" cy="838200"/>
          </a:xfrm>
          <a:prstGeom prst="roundRect">
            <a:avLst>
              <a:gd name="adj" fmla="val 18181"/>
            </a:avLst>
          </a:prstGeom>
          <a:solidFill>
            <a:srgbClr val="00D9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7402635" y="3941445"/>
            <a:ext cx="8382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53176" y="3724274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48423" y="3825127"/>
            <a:ext cx="190495" cy="17929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448463" y="3724274"/>
            <a:ext cx="16001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Infinite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8463" y="4029075"/>
            <a:ext cx="16001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Continuous frame capture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205" y="4562475"/>
            <a:ext cx="3962300" cy="838200"/>
          </a:xfrm>
          <a:prstGeom prst="roundRect">
            <a:avLst>
              <a:gd name="adj" fmla="val 18181"/>
            </a:avLst>
          </a:prstGeom>
          <a:solidFill>
            <a:srgbClr val="00D9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7402635" y="4932045"/>
            <a:ext cx="8382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53176" y="4714875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048423" y="4843742"/>
            <a:ext cx="190495" cy="1232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448463" y="4714875"/>
            <a:ext cx="13048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Press 'Q' to Quit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48463" y="5019675"/>
            <a:ext cx="130489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Exit the video stream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205" y="5553074"/>
            <a:ext cx="3962300" cy="838200"/>
          </a:xfrm>
          <a:prstGeom prst="roundRect">
            <a:avLst>
              <a:gd name="adj" fmla="val 18181"/>
            </a:avLst>
          </a:prstGeom>
          <a:solidFill>
            <a:srgbClr val="FF5F5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7402635" y="5922644"/>
            <a:ext cx="8382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953176" y="5765006"/>
            <a:ext cx="228594" cy="18573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296067" y="5705475"/>
            <a:ext cx="158111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Important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6067" y="6010274"/>
            <a:ext cx="15811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Always release resources!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29634" y="7143750"/>
            <a:ext cx="9524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SESSION 1.2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27"/>
            </a:gs>
            <a:gs pos="50000">
              <a:srgbClr val="1A1F3A"/>
            </a:gs>
            <a:gs pos="100000">
              <a:srgbClr val="2D1B4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9848603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00D9FF"/>
                </a:solidFill>
                <a:latin typeface="Orbitron"/>
                <a:rFonts ascii="Orbitron" hAnsi="Orbitron" eastAsia="Orbitron" cs="Orbitron"/>
              </a:rPr>
              <a:t>UNDERSTANDING VIDEO CAPTURE FUNCTIONS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188" y="1266824"/>
            <a:ext cx="5524361" cy="1504950"/>
          </a:xfrm>
          <a:prstGeom prst="roundRect">
            <a:avLst>
              <a:gd name="adj" fmla="val 15189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229247" y="1953259"/>
            <a:ext cx="1504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782" y="145732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00079" y="1623060"/>
            <a:ext cx="228594" cy="1257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95367" y="1457325"/>
            <a:ext cx="207639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VideoCapture(0)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367" y="1762125"/>
            <a:ext cx="207639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Opens the default webcam device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95367" y="2105024"/>
            <a:ext cx="4495687" cy="476249"/>
          </a:xfrm>
          <a:prstGeom prst="roundRect">
            <a:avLst>
              <a:gd name="adj" fmla="val 32000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43011" y="2247899"/>
            <a:ext cx="141918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= default camera index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188" y="2924175"/>
            <a:ext cx="5524361" cy="1562100"/>
          </a:xfrm>
          <a:prstGeom prst="roundRect">
            <a:avLst>
              <a:gd name="adj" fmla="val 14634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-257822" y="3639185"/>
            <a:ext cx="1562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782" y="311467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0079" y="3246120"/>
            <a:ext cx="228594" cy="19430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95367" y="3114675"/>
            <a:ext cx="229546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cap.read()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367" y="3419474"/>
            <a:ext cx="229546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Captures a single frame from camera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5367" y="3762374"/>
            <a:ext cx="55243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4001" y="3762374"/>
            <a:ext cx="23335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→ True if frame captured successfully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5367" y="4067174"/>
            <a:ext cx="45718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frame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754" y="4067174"/>
            <a:ext cx="200972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→ 3D NumPy array (image data)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188" y="4638674"/>
            <a:ext cx="5524361" cy="1485900"/>
          </a:xfrm>
          <a:prstGeom prst="roundRect">
            <a:avLst>
              <a:gd name="adj" fmla="val 15384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-219722" y="5315584"/>
            <a:ext cx="1485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782" y="482917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0079" y="4974907"/>
            <a:ext cx="228594" cy="16573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95367" y="4829175"/>
            <a:ext cx="18382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waitKey(1)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5367" y="5133975"/>
            <a:ext cx="18382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Waits 1ms for key press event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95367" y="5476875"/>
            <a:ext cx="4495687" cy="457200"/>
          </a:xfrm>
          <a:prstGeom prst="roundRect">
            <a:avLst>
              <a:gd name="adj" fmla="val 33333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09664" y="5600700"/>
            <a:ext cx="2352616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Returns the ASCII code of pressed key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0144" y="1266824"/>
            <a:ext cx="5524361" cy="1504950"/>
          </a:xfrm>
          <a:prstGeom prst="roundRect">
            <a:avLst>
              <a:gd name="adj" fmla="val 15189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 rot="16200000">
            <a:off x="5523709" y="1953259"/>
            <a:ext cx="1504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38739" y="145732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553036" y="1614487"/>
            <a:ext cx="228594" cy="14287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048323" y="1457325"/>
            <a:ext cx="200972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ord('q')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8323" y="1762125"/>
            <a:ext cx="200972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Converts character to ASCII code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48323" y="2105024"/>
            <a:ext cx="4495687" cy="476249"/>
          </a:xfrm>
          <a:prstGeom prst="roundRect">
            <a:avLst>
              <a:gd name="adj" fmla="val 32000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34126" y="2247899"/>
            <a:ext cx="29526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= 113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0144" y="2924175"/>
            <a:ext cx="5524361" cy="1504950"/>
          </a:xfrm>
          <a:prstGeom prst="roundRect">
            <a:avLst>
              <a:gd name="adj" fmla="val 15189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 rot="16200000">
            <a:off x="5523709" y="3610610"/>
            <a:ext cx="1504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438739" y="311467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53036" y="3271837"/>
            <a:ext cx="228594" cy="14287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048323" y="3114675"/>
            <a:ext cx="16668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cap.release()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8323" y="3419474"/>
            <a:ext cx="166683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Releases camera resources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048323" y="3762374"/>
            <a:ext cx="4495687" cy="476249"/>
          </a:xfrm>
          <a:prstGeom prst="roundRect">
            <a:avLst>
              <a:gd name="adj" fmla="val 32000"/>
            </a:avLst>
          </a:prstGeom>
          <a:solidFill>
            <a:srgbClr val="FF5F56">
              <a:alpha val="10000"/>
            </a:srgbClr>
          </a:solidFill>
          <a:ln w="8255">
            <a:solidFill>
              <a:srgbClr val="FF5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72145" y="3895724"/>
            <a:ext cx="1581110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⚠️ Always call before exit!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0144" y="4581524"/>
            <a:ext cx="5524361" cy="1485900"/>
          </a:xfrm>
          <a:prstGeom prst="roundRect">
            <a:avLst>
              <a:gd name="adj" fmla="val 15384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 rot="16200000">
            <a:off x="5533234" y="5258434"/>
            <a:ext cx="1485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438739" y="477202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53036" y="4906327"/>
            <a:ext cx="228594" cy="18859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048323" y="4772025"/>
            <a:ext cx="16668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destroyAllWindows()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8323" y="5076825"/>
            <a:ext cx="166683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Closes all OpenCV windows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048323" y="5419725"/>
            <a:ext cx="4495687" cy="457200"/>
          </a:xfrm>
          <a:prstGeom prst="roundRect">
            <a:avLst>
              <a:gd name="adj" fmla="val 33333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62620" y="5543550"/>
            <a:ext cx="170493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Cleans up display resources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29634" y="6362700"/>
            <a:ext cx="9524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SESSION 1.2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27"/>
            </a:gs>
            <a:gs pos="50000">
              <a:srgbClr val="1A1F3A"/>
            </a:gs>
            <a:gs pos="100000">
              <a:srgbClr val="2D1B4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3857528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00D9FF"/>
                </a:solidFill>
                <a:latin typeface="Orbitron"/>
                <a:rFonts ascii="Orbitron" hAnsi="Orbitron" eastAsia="Orbitron" cs="Orbitron"/>
              </a:rPr>
              <a:t>FLIPPING CAMERA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57188" y="2123342"/>
            <a:ext cx="304792" cy="2872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188" y="2533649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Often webcams are mirrored. Use cv2.flip() to fix the orientation.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188" y="3028950"/>
            <a:ext cx="5181470" cy="1400175"/>
          </a:xfrm>
          <a:prstGeom prst="roundRect">
            <a:avLst>
              <a:gd name="adj" fmla="val 16326"/>
            </a:avLst>
          </a:prstGeom>
          <a:solidFill>
            <a:srgbClr val="000000">
              <a:alpha val="60000"/>
            </a:srgbClr>
          </a:solidFill>
          <a:ln w="1651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4832" y="329565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5327" y="329565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85822" y="329565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2516" y="3276599"/>
            <a:ext cx="96200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8B9DC3"/>
                </a:solidFill>
                <a:latin typeface="Roboto Mono"/>
                <a:rFonts ascii="Roboto Mono" hAnsi="Roboto Mono" eastAsia="Roboto Mono" cs="Roboto Mono"/>
              </a:rPr>
              <a:t>flip_camera.py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188" y="4657725"/>
            <a:ext cx="5181470" cy="895350"/>
          </a:xfrm>
          <a:prstGeom prst="roundRect">
            <a:avLst>
              <a:gd name="adj" fmla="val 25531"/>
            </a:avLst>
          </a:prstGeom>
          <a:solidFill>
            <a:srgbClr val="00D9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75553" y="5039360"/>
            <a:ext cx="895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85782" y="4903469"/>
            <a:ext cx="228594" cy="19430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8674" y="4848225"/>
            <a:ext cx="4419489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The </a:t>
            </a:r>
            <a:r>
              <a:rPr sz="956" b="1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cv2.flip()</a:t>
            </a:r>
            <a:r>
              <a:rPr sz="95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function takes two parameters: the image/frame and the flip code.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53036" y="2004646"/>
            <a:ext cx="304792" cy="257907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553036" y="2514600"/>
            <a:ext cx="5181470" cy="952499"/>
          </a:xfrm>
          <a:prstGeom prst="roundRect">
            <a:avLst>
              <a:gd name="adj" fmla="val 24000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6142827" y="2924809"/>
            <a:ext cx="952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81630" y="2705099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81650" y="2819399"/>
            <a:ext cx="13334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67413" y="2705099"/>
            <a:ext cx="290505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Vertical Flip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7413" y="3047999"/>
            <a:ext cx="290505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Flips image along horizontal axis (upside down)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53036" y="3619499"/>
            <a:ext cx="5181470" cy="952499"/>
          </a:xfrm>
          <a:prstGeom prst="roundRect">
            <a:avLst>
              <a:gd name="adj" fmla="val 24000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6142827" y="4029708"/>
            <a:ext cx="952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81630" y="3809999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81650" y="3924299"/>
            <a:ext cx="13334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7413" y="3809999"/>
            <a:ext cx="27240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Horizontal Flip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7413" y="4152899"/>
            <a:ext cx="272408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Flips image along vertical axis (mirror effect)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53036" y="4724399"/>
            <a:ext cx="5181470" cy="952499"/>
          </a:xfrm>
          <a:prstGeom prst="roundRect">
            <a:avLst>
              <a:gd name="adj" fmla="val 24000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6142827" y="5134608"/>
            <a:ext cx="952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781630" y="491490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14977" y="5029200"/>
            <a:ext cx="27621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-1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67413" y="4914900"/>
            <a:ext cx="26193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Both Flip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67413" y="5257800"/>
            <a:ext cx="261930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Flips image both vertically and horizontally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29634" y="6362700"/>
            <a:ext cx="9524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SESSION 1.2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27"/>
            </a:gs>
            <a:gs pos="50000">
              <a:srgbClr val="1A1F3A"/>
            </a:gs>
            <a:gs pos="100000">
              <a:srgbClr val="2D1B4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4448063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00D9FF"/>
                </a:solidFill>
                <a:latin typeface="Orbitron"/>
                <a:rFonts ascii="Orbitron" hAnsi="Orbitron" eastAsia="Orbitron" cs="Orbitron"/>
              </a:rPr>
              <a:t>COLOR CONVERSION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57188" y="1452196"/>
            <a:ext cx="304792" cy="25790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188" y="2152650"/>
            <a:ext cx="5181470" cy="933449"/>
          </a:xfrm>
          <a:prstGeom prst="roundRect">
            <a:avLst>
              <a:gd name="adj" fmla="val 24489"/>
            </a:avLst>
          </a:prstGeom>
          <a:solidFill>
            <a:srgbClr val="00D9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56504" y="2553334"/>
            <a:ext cx="9334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782" y="234315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0079" y="2481738"/>
            <a:ext cx="228594" cy="1800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95367" y="2343150"/>
            <a:ext cx="205734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OpenCV Default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367" y="2647949"/>
            <a:ext cx="2057348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Uses </a:t>
            </a:r>
            <a:r>
              <a:rPr sz="956" b="1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BGR</a:t>
            </a: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 color format by default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188" y="3238500"/>
            <a:ext cx="5181470" cy="933449"/>
          </a:xfrm>
          <a:prstGeom prst="roundRect">
            <a:avLst>
              <a:gd name="adj" fmla="val 24489"/>
            </a:avLst>
          </a:prstGeom>
          <a:solidFill>
            <a:srgbClr val="00D9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56504" y="3639184"/>
            <a:ext cx="9334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782" y="342900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0079" y="3569017"/>
            <a:ext cx="228594" cy="1771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95367" y="3429000"/>
            <a:ext cx="184780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ML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5367" y="3733799"/>
            <a:ext cx="1847803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Many models use </a:t>
            </a:r>
            <a:r>
              <a:rPr sz="956" b="1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RGB</a:t>
            </a: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 format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188" y="4324349"/>
            <a:ext cx="5181470" cy="933449"/>
          </a:xfrm>
          <a:prstGeom prst="roundRect">
            <a:avLst>
              <a:gd name="adj" fmla="val 24489"/>
            </a:avLst>
          </a:prstGeom>
          <a:solidFill>
            <a:srgbClr val="FF5F5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56504" y="4725033"/>
            <a:ext cx="9334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782" y="451485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FF5F5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00079" y="4650581"/>
            <a:ext cx="228594" cy="18573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95367" y="4514850"/>
            <a:ext cx="254311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MediaPipe Requirement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5367" y="4819650"/>
            <a:ext cx="254311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Requires </a:t>
            </a:r>
            <a:r>
              <a:rPr sz="956" b="1">
                <a:solidFill>
                  <a:srgbClr val="FF5F56"/>
                </a:solidFill>
                <a:latin typeface="Roboto Mono"/>
                <a:rFonts ascii="Roboto Mono" hAnsi="Roboto Mono" eastAsia="Roboto Mono" cs="Roboto Mono"/>
              </a:rPr>
              <a:t>RGB</a:t>
            </a: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 input for proper processing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188" y="5562600"/>
            <a:ext cx="5181470" cy="666750"/>
          </a:xfrm>
          <a:prstGeom prst="roundRect">
            <a:avLst>
              <a:gd name="adj" fmla="val 34285"/>
            </a:avLst>
          </a:prstGeom>
          <a:solidFill>
            <a:srgbClr val="00D9FF">
              <a:alpha val="5000"/>
            </a:srgbClr>
          </a:solidFill>
          <a:ln w="8255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7208" y="5772150"/>
            <a:ext cx="478143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</a:t>
            </a:r>
            <a:r>
              <a:rPr sz="95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Solution:</a:t>
            </a:r>
            <a:r>
              <a:rPr sz="95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Convert between color spaces using </a:t>
            </a:r>
            <a:r>
              <a:rPr sz="956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cv2.cvtColor()</a:t>
            </a:r>
            <a:r>
              <a:rPr sz="95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53036" y="1739411"/>
            <a:ext cx="304792" cy="216876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553036" y="2228850"/>
            <a:ext cx="5181470" cy="1695449"/>
          </a:xfrm>
          <a:prstGeom prst="roundRect">
            <a:avLst>
              <a:gd name="adj" fmla="val 13483"/>
            </a:avLst>
          </a:prstGeom>
          <a:solidFill>
            <a:srgbClr val="000000">
              <a:alpha val="60000"/>
            </a:srgbClr>
          </a:solidFill>
          <a:ln w="1651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00679" y="249555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991175" y="249555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181670" y="249555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8363" y="2476499"/>
            <a:ext cx="130489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8B9DC3"/>
                </a:solidFill>
                <a:latin typeface="Roboto Mono"/>
                <a:rFonts ascii="Roboto Mono" hAnsi="Roboto Mono" eastAsia="Roboto Mono" cs="Roboto Mono"/>
              </a:rPr>
              <a:t>color_conversion.py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3036" y="4143375"/>
            <a:ext cx="2514537" cy="838200"/>
          </a:xfrm>
          <a:prstGeom prst="roundRect">
            <a:avLst>
              <a:gd name="adj" fmla="val 18181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6183466" y="4512945"/>
            <a:ext cx="8382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734006" y="4359088"/>
            <a:ext cx="190495" cy="14007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000699" y="4295774"/>
            <a:ext cx="8191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BGR → RGB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34006" y="4638674"/>
            <a:ext cx="218117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C5D6"/>
                </a:solidFill>
                <a:latin typeface="Roboto Mono"/>
                <a:rFonts ascii="Roboto Mono" hAnsi="Roboto Mono" eastAsia="Roboto Mono" cs="Roboto Mono"/>
              </a:rPr>
              <a:t>cv2.COLOR_BGR2RGB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19969" y="4143375"/>
            <a:ext cx="2514537" cy="838200"/>
          </a:xfrm>
          <a:prstGeom prst="roundRect">
            <a:avLst>
              <a:gd name="adj" fmla="val 18181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8850399" y="4512945"/>
            <a:ext cx="8382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400939" y="4359088"/>
            <a:ext cx="190495" cy="140073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667633" y="4295774"/>
            <a:ext cx="8191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RGB → BGR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00939" y="4638674"/>
            <a:ext cx="218117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C5D6"/>
                </a:solidFill>
                <a:latin typeface="Roboto Mono"/>
                <a:rFonts ascii="Roboto Mono" hAnsi="Roboto Mono" eastAsia="Roboto Mono" cs="Roboto Mono"/>
              </a:rPr>
              <a:t>cv2.COLOR_RGB2BGR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53036" y="5133975"/>
            <a:ext cx="2514537" cy="838200"/>
          </a:xfrm>
          <a:prstGeom prst="roundRect">
            <a:avLst>
              <a:gd name="adj" fmla="val 18181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6183466" y="5503545"/>
            <a:ext cx="8382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734006" y="5344085"/>
            <a:ext cx="190495" cy="15127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00699" y="5286375"/>
            <a:ext cx="90485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BGR → GRAY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34006" y="5629275"/>
            <a:ext cx="218117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C5D6"/>
                </a:solidFill>
                <a:latin typeface="Roboto Mono"/>
                <a:rFonts ascii="Roboto Mono" hAnsi="Roboto Mono" eastAsia="Roboto Mono" cs="Roboto Mono"/>
              </a:rPr>
              <a:t>cv2.COLOR_BGR2GRAY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19969" y="5133975"/>
            <a:ext cx="2514537" cy="838200"/>
          </a:xfrm>
          <a:prstGeom prst="roundRect">
            <a:avLst>
              <a:gd name="adj" fmla="val 18181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 rot="16200000">
            <a:off x="8850399" y="5503545"/>
            <a:ext cx="83820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9400939" y="5344085"/>
            <a:ext cx="190495" cy="151279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667633" y="5286375"/>
            <a:ext cx="80960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BGR → HSV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00939" y="5629275"/>
            <a:ext cx="218117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C5D6"/>
                </a:solidFill>
                <a:latin typeface="Roboto Mono"/>
                <a:rFonts ascii="Roboto Mono" hAnsi="Roboto Mono" eastAsia="Roboto Mono" cs="Roboto Mono"/>
              </a:rPr>
              <a:t>cv2.COLOR_BGR2HSV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29634" y="6362700"/>
            <a:ext cx="9524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SESSION 1.2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27"/>
            </a:gs>
            <a:gs pos="50000">
              <a:srgbClr val="1A1F3A"/>
            </a:gs>
            <a:gs pos="100000">
              <a:srgbClr val="2D1B4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6676858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00D9FF"/>
                </a:solidFill>
                <a:latin typeface="Orbitron"/>
                <a:rFonts ascii="Orbitron" hAnsi="Orbitron" eastAsia="Orbitron" cs="Orbitron"/>
              </a:rPr>
              <a:t>COLOR CONVERSION METHODS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57188" y="1330569"/>
            <a:ext cx="304792" cy="23446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188" y="1828800"/>
            <a:ext cx="5562460" cy="800100"/>
          </a:xfrm>
          <a:prstGeom prst="roundRect">
            <a:avLst>
              <a:gd name="adj" fmla="val 28571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123178" y="2162810"/>
            <a:ext cx="800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7683" y="2038349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42931" y="2153210"/>
            <a:ext cx="190495" cy="1512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2971" y="1981199"/>
            <a:ext cx="14382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BGR → Gray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2971" y="2286000"/>
            <a:ext cx="14382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C5D6"/>
                </a:solidFill>
                <a:latin typeface="Roboto Mono"/>
                <a:rFonts ascii="Roboto Mono" hAnsi="Roboto Mono" eastAsia="Roboto Mono" cs="Roboto Mono"/>
              </a:rPr>
              <a:t>cv2.COLOR_BGR2GRAY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045" y="1828800"/>
            <a:ext cx="5562460" cy="800100"/>
          </a:xfrm>
          <a:prstGeom prst="roundRect">
            <a:avLst>
              <a:gd name="adj" fmla="val 28571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5838035" y="2162810"/>
            <a:ext cx="800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62540" y="2038349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57788" y="214760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7828" y="1981199"/>
            <a:ext cx="14382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Gray → BGR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7828" y="2286000"/>
            <a:ext cx="14382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C5D6"/>
                </a:solidFill>
                <a:latin typeface="Roboto Mono"/>
                <a:rFonts ascii="Roboto Mono" hAnsi="Roboto Mono" eastAsia="Roboto Mono" cs="Roboto Mono"/>
              </a:rPr>
              <a:t>cv2.COLOR_GRAY2BGR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188" y="2781300"/>
            <a:ext cx="5562460" cy="800100"/>
          </a:xfrm>
          <a:prstGeom prst="roundRect">
            <a:avLst>
              <a:gd name="adj" fmla="val 28571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123178" y="3115310"/>
            <a:ext cx="800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7683" y="2990849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42931" y="3119717"/>
            <a:ext cx="190495" cy="1232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42971" y="2933699"/>
            <a:ext cx="136204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BGR → RGB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2971" y="3238500"/>
            <a:ext cx="13620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C5D6"/>
                </a:solidFill>
                <a:latin typeface="Roboto Mono"/>
                <a:rFonts ascii="Roboto Mono" hAnsi="Roboto Mono" eastAsia="Roboto Mono" cs="Roboto Mono"/>
              </a:rPr>
              <a:t>cv2.COLOR_BGR2RGB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045" y="2781300"/>
            <a:ext cx="5562460" cy="800100"/>
          </a:xfrm>
          <a:prstGeom prst="roundRect">
            <a:avLst>
              <a:gd name="adj" fmla="val 28571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5838035" y="3115310"/>
            <a:ext cx="800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62540" y="2990849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57788" y="3119717"/>
            <a:ext cx="190495" cy="1232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857828" y="2933699"/>
            <a:ext cx="136204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RGB → BGR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7828" y="3238500"/>
            <a:ext cx="13620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C5D6"/>
                </a:solidFill>
                <a:latin typeface="Roboto Mono"/>
                <a:rFonts ascii="Roboto Mono" hAnsi="Roboto Mono" eastAsia="Roboto Mono" cs="Roboto Mono"/>
              </a:rPr>
              <a:t>cv2.COLOR_RGB2BGR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188" y="3733799"/>
            <a:ext cx="5562460" cy="800100"/>
          </a:xfrm>
          <a:prstGeom prst="roundRect">
            <a:avLst>
              <a:gd name="adj" fmla="val 28571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123178" y="4067809"/>
            <a:ext cx="800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7683" y="3943350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42931" y="4058210"/>
            <a:ext cx="190495" cy="15127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42971" y="3886200"/>
            <a:ext cx="136204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BGR → HSV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2971" y="4190999"/>
            <a:ext cx="13620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C5D6"/>
                </a:solidFill>
                <a:latin typeface="Roboto Mono"/>
                <a:rFonts ascii="Roboto Mono" hAnsi="Roboto Mono" eastAsia="Roboto Mono" cs="Roboto Mono"/>
              </a:rPr>
              <a:t>cv2.COLOR_BGR2HSV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045" y="3733799"/>
            <a:ext cx="5562460" cy="800100"/>
          </a:xfrm>
          <a:prstGeom prst="roundRect">
            <a:avLst>
              <a:gd name="adj" fmla="val 28571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5838035" y="4067809"/>
            <a:ext cx="800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62540" y="3943350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57788" y="4058210"/>
            <a:ext cx="190495" cy="15127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857828" y="3886200"/>
            <a:ext cx="136204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HSV → BGR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7828" y="4190999"/>
            <a:ext cx="13620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C5D6"/>
                </a:solidFill>
                <a:latin typeface="Roboto Mono"/>
                <a:rFonts ascii="Roboto Mono" hAnsi="Roboto Mono" eastAsia="Roboto Mono" cs="Roboto Mono"/>
              </a:rPr>
              <a:t>cv2.COLOR_HSV2BGR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188" y="4686300"/>
            <a:ext cx="5562460" cy="800100"/>
          </a:xfrm>
          <a:prstGeom prst="roundRect">
            <a:avLst>
              <a:gd name="adj" fmla="val 28571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123178" y="5020310"/>
            <a:ext cx="800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47683" y="4895849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42931" y="5016313"/>
            <a:ext cx="190495" cy="140073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142971" y="4838699"/>
            <a:ext cx="136204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BGR → LAB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2971" y="5143500"/>
            <a:ext cx="13620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C5D6"/>
                </a:solidFill>
                <a:latin typeface="Roboto Mono"/>
                <a:rFonts ascii="Roboto Mono" hAnsi="Roboto Mono" eastAsia="Roboto Mono" cs="Roboto Mono"/>
              </a:rPr>
              <a:t>cv2.COLOR_BGR2LAB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72045" y="4686300"/>
            <a:ext cx="5562460" cy="800100"/>
          </a:xfrm>
          <a:prstGeom prst="roundRect">
            <a:avLst>
              <a:gd name="adj" fmla="val 28571"/>
            </a:avLst>
          </a:prstGeom>
          <a:solidFill>
            <a:srgbClr val="00D9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 rot="16200000">
            <a:off x="5838035" y="5020310"/>
            <a:ext cx="800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362540" y="4895849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457788" y="5010710"/>
            <a:ext cx="190495" cy="151279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857828" y="4838699"/>
            <a:ext cx="15239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BGR → YCrCb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7828" y="5143500"/>
            <a:ext cx="15239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C5D6"/>
                </a:solidFill>
                <a:latin typeface="Roboto Mono"/>
                <a:rFonts ascii="Roboto Mono" hAnsi="Roboto Mono" eastAsia="Roboto Mono" cs="Roboto Mono"/>
              </a:rPr>
              <a:t>cv2.COLOR_BGR2YCrCb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188" y="5715000"/>
            <a:ext cx="11277318" cy="666750"/>
          </a:xfrm>
          <a:prstGeom prst="roundRect">
            <a:avLst>
              <a:gd name="adj" fmla="val 34285"/>
            </a:avLst>
          </a:prstGeom>
          <a:solidFill>
            <a:srgbClr val="00D9FF">
              <a:alpha val="8000"/>
            </a:srgbClr>
          </a:solidFill>
          <a:ln w="8255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57208" y="5922645"/>
            <a:ext cx="228594" cy="194309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000099" y="5905500"/>
            <a:ext cx="971525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</a:t>
            </a:r>
            <a:r>
              <a:rPr sz="95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Note:</a:t>
            </a:r>
            <a:r>
              <a:rPr sz="95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Use </a:t>
            </a:r>
            <a:r>
              <a:rPr sz="956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cv2.cvtColor(image, conversion_code)</a:t>
            </a:r>
            <a:r>
              <a:rPr sz="95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to convert between color spaces. Each color space has specific use cases in image processing.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29634" y="6362700"/>
            <a:ext cx="9524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SESSION 1.2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27"/>
            </a:gs>
            <a:gs pos="50000">
              <a:srgbClr val="1A1F3A"/>
            </a:gs>
            <a:gs pos="100000">
              <a:srgbClr val="2D1B4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6591135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00D9FF"/>
                </a:solidFill>
                <a:latin typeface="Orbitron"/>
                <a:rFonts ascii="Orbitron" hAnsi="Orbitron" eastAsia="Orbitron" cs="Orbitron"/>
              </a:rPr>
              <a:t>NEGATIVE IMAGE CONVERSION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57188" y="1356213"/>
            <a:ext cx="304792" cy="16412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188" y="1933574"/>
            <a:ext cx="5181470" cy="1400175"/>
          </a:xfrm>
          <a:prstGeom prst="roundRect">
            <a:avLst>
              <a:gd name="adj" fmla="val 16326"/>
            </a:avLst>
          </a:prstGeom>
          <a:solidFill>
            <a:srgbClr val="000000">
              <a:alpha val="60000"/>
            </a:srgbClr>
          </a:solidFill>
          <a:ln w="1651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4832" y="2200275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5327" y="2200275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5822" y="2200275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52516" y="2181225"/>
            <a:ext cx="116202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8B9DC3"/>
                </a:solidFill>
                <a:latin typeface="Roboto Mono"/>
                <a:rFonts ascii="Roboto Mono" hAnsi="Roboto Mono" eastAsia="Roboto Mono" cs="Roboto Mono"/>
              </a:rPr>
              <a:t>negative_image.py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188" y="3562349"/>
            <a:ext cx="5181470" cy="838200"/>
          </a:xfrm>
          <a:prstGeom prst="roundRect">
            <a:avLst>
              <a:gd name="adj" fmla="val 27272"/>
            </a:avLst>
          </a:prstGeom>
          <a:solidFill>
            <a:srgbClr val="00D9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104128" y="3915409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7683" y="3714750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42931" y="3829610"/>
            <a:ext cx="190495" cy="1512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2971" y="3714750"/>
            <a:ext cx="22002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Mathematical Operation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2971" y="4019549"/>
            <a:ext cx="22002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Subtracts each pixel value from 255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188" y="4552949"/>
            <a:ext cx="5181470" cy="838200"/>
          </a:xfrm>
          <a:prstGeom prst="roundRect">
            <a:avLst>
              <a:gd name="adj" fmla="val 27272"/>
            </a:avLst>
          </a:prstGeom>
          <a:solidFill>
            <a:srgbClr val="00D9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104128" y="4906009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7683" y="4705350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42931" y="4817408"/>
            <a:ext cx="190495" cy="15688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42971" y="4705350"/>
            <a:ext cx="199067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3D Array 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2971" y="5010149"/>
            <a:ext cx="19906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Applied to entire BGR pixel array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188" y="5543550"/>
            <a:ext cx="5181470" cy="838200"/>
          </a:xfrm>
          <a:prstGeom prst="roundRect">
            <a:avLst>
              <a:gd name="adj" fmla="val 27272"/>
            </a:avLst>
          </a:prstGeom>
          <a:solidFill>
            <a:srgbClr val="00D9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104128" y="5896610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7683" y="5695949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42931" y="5806608"/>
            <a:ext cx="190495" cy="15968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42971" y="5695949"/>
            <a:ext cx="180970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Inverts Colors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2971" y="6000750"/>
            <a:ext cx="180970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Creates opposite color values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53036" y="1811215"/>
            <a:ext cx="304792" cy="187569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553036" y="2286000"/>
            <a:ext cx="2514537" cy="2228850"/>
          </a:xfrm>
          <a:prstGeom prst="roundRect">
            <a:avLst>
              <a:gd name="adj" fmla="val 10256"/>
            </a:avLst>
          </a:prstGeom>
          <a:solidFill>
            <a:srgbClr val="00D9FF">
              <a:alpha val="5000"/>
            </a:srgbClr>
          </a:solidFill>
          <a:ln w="8255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714957" y="2496110"/>
            <a:ext cx="190495" cy="15127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981650" y="2438400"/>
            <a:ext cx="53338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Original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14957" y="2819399"/>
            <a:ext cx="2190695" cy="1523999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581710" y="3327734"/>
            <a:ext cx="457188" cy="24063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438839" y="3752849"/>
            <a:ext cx="75245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Normal Image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19969" y="2286000"/>
            <a:ext cx="2514537" cy="2228850"/>
          </a:xfrm>
          <a:prstGeom prst="roundRect">
            <a:avLst>
              <a:gd name="adj" fmla="val 10256"/>
            </a:avLst>
          </a:prstGeom>
          <a:solidFill>
            <a:srgbClr val="00D9FF">
              <a:alpha val="5000"/>
            </a:srgbClr>
          </a:solidFill>
          <a:ln w="8255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381890" y="2491908"/>
            <a:ext cx="190495" cy="15968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648583" y="2438400"/>
            <a:ext cx="6191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Negative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81890" y="2819399"/>
            <a:ext cx="2190695" cy="1523999"/>
          </a:xfrm>
          <a:prstGeom prst="roundRect">
            <a:avLst>
              <a:gd name="adj" fmla="val 10000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0248643" y="3255544"/>
            <a:ext cx="457188" cy="38501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077198" y="3752849"/>
            <a:ext cx="80960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Inverted Image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53036" y="4743450"/>
            <a:ext cx="5181470" cy="1181099"/>
          </a:xfrm>
          <a:prstGeom prst="roundRect">
            <a:avLst>
              <a:gd name="adj" fmla="val 19354"/>
            </a:avLst>
          </a:prstGeom>
          <a:solidFill>
            <a:srgbClr val="00D9FF">
              <a:alpha val="8000"/>
            </a:srgbClr>
          </a:solidFill>
          <a:ln w="8255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753056" y="4951095"/>
            <a:ext cx="228594" cy="19430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095947" y="4933950"/>
            <a:ext cx="4438539" cy="781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</a:t>
            </a:r>
            <a:r>
              <a:rPr sz="95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How it works:</a:t>
            </a:r>
            <a:r>
              <a:rPr sz="95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For each pixel, the operation calculates: </a:t>
            </a:r>
            <a:r>
              <a:rPr sz="956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255 - original_value</a:t>
            </a:r>
            <a:r>
              <a:rPr sz="95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. This creates the negative effect by inverting brightness levels.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29634" y="6362700"/>
            <a:ext cx="9524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SESSION 1.2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27"/>
            </a:gs>
            <a:gs pos="50000">
              <a:srgbClr val="1A1F3A"/>
            </a:gs>
            <a:gs pos="100000">
              <a:srgbClr val="2D1B4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6505412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00D9FF"/>
                </a:solidFill>
                <a:latin typeface="Orbitron"/>
                <a:rFonts ascii="Orbitron" hAnsi="Orbitron" eastAsia="Orbitron" cs="Orbitron"/>
              </a:rPr>
              <a:t>DRAWING GRAPHICS ON VIDEO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57188" y="1337163"/>
            <a:ext cx="304792" cy="16412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188" y="1876424"/>
            <a:ext cx="6400639" cy="6400800"/>
          </a:xfrm>
          <a:prstGeom prst="roundRect">
            <a:avLst>
              <a:gd name="adj" fmla="val 3571"/>
            </a:avLst>
          </a:prstGeom>
          <a:solidFill>
            <a:srgbClr val="000000">
              <a:alpha val="60000"/>
            </a:srgbClr>
          </a:solidFill>
          <a:ln w="1651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4832" y="2143125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5327" y="2143125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5822" y="2143125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52516" y="2124075"/>
            <a:ext cx="116202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8B9DC3"/>
                </a:solidFill>
                <a:latin typeface="Roboto Mono"/>
                <a:rFonts ascii="Roboto Mono" hAnsi="Roboto Mono" eastAsia="Roboto Mono" cs="Roboto Mono"/>
              </a:rPr>
              <a:t>video_graphics.py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772205" y="2204671"/>
            <a:ext cx="304792" cy="25790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72205" y="2714625"/>
            <a:ext cx="3962300" cy="838200"/>
          </a:xfrm>
          <a:prstGeom prst="roundRect">
            <a:avLst>
              <a:gd name="adj" fmla="val 27272"/>
            </a:avLst>
          </a:prstGeom>
          <a:solidFill>
            <a:srgbClr val="00D9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7419145" y="3067685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62700" y="2867025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05572" y="2924175"/>
            <a:ext cx="1047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7988" y="2867025"/>
            <a:ext cx="16096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Draw Rectangle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7988" y="3171825"/>
            <a:ext cx="160968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Creates UI panel on frame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205" y="3667124"/>
            <a:ext cx="3962300" cy="838200"/>
          </a:xfrm>
          <a:prstGeom prst="roundRect">
            <a:avLst>
              <a:gd name="adj" fmla="val 27272"/>
            </a:avLst>
          </a:prstGeom>
          <a:solidFill>
            <a:srgbClr val="00D9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7419145" y="4020184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62700" y="3819524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05572" y="3876674"/>
            <a:ext cx="1047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7988" y="3819524"/>
            <a:ext cx="13239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Write 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7988" y="4124324"/>
            <a:ext cx="132394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Adds status message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205" y="4619625"/>
            <a:ext cx="3962300" cy="838200"/>
          </a:xfrm>
          <a:prstGeom prst="roundRect">
            <a:avLst>
              <a:gd name="adj" fmla="val 27272"/>
            </a:avLst>
          </a:prstGeom>
          <a:solidFill>
            <a:srgbClr val="00D9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7419145" y="4972685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62700" y="4772025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05572" y="4829175"/>
            <a:ext cx="1047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7988" y="4772025"/>
            <a:ext cx="14572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Display Frame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7988" y="5076825"/>
            <a:ext cx="145728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Shows annotated video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205" y="5572125"/>
            <a:ext cx="3962300" cy="838200"/>
          </a:xfrm>
          <a:prstGeom prst="roundRect">
            <a:avLst>
              <a:gd name="adj" fmla="val 27272"/>
            </a:avLst>
          </a:prstGeom>
          <a:solidFill>
            <a:srgbClr val="00D9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7419145" y="5925185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62700" y="5724524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05572" y="5781674"/>
            <a:ext cx="1047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7988" y="5724524"/>
            <a:ext cx="9620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Exit on 'Q'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7988" y="6029325"/>
            <a:ext cx="96200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Breaks the loop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205" y="6600825"/>
            <a:ext cx="3962300" cy="761999"/>
          </a:xfrm>
          <a:prstGeom prst="roundRect">
            <a:avLst>
              <a:gd name="adj" fmla="val 30000"/>
            </a:avLst>
          </a:prstGeom>
          <a:solidFill>
            <a:srgbClr val="00D9FF">
              <a:alpha val="8000"/>
            </a:srgbClr>
          </a:solidFill>
          <a:ln w="8255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934126" y="6776757"/>
            <a:ext cx="190495" cy="16248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200819" y="6762750"/>
            <a:ext cx="3371765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Graphics are drawn </a:t>
            </a:r>
            <a:r>
              <a:rPr sz="837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each frame</a:t>
            </a:r>
            <a:r>
              <a:rPr sz="837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inside the while loop for real-time overlay.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29634" y="8239124"/>
            <a:ext cx="9524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SESSION 1.2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27"/>
            </a:gs>
            <a:gs pos="50000">
              <a:srgbClr val="1A1F3A"/>
            </a:gs>
            <a:gs pos="100000">
              <a:srgbClr val="2D1B4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6543511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00D9FF"/>
                </a:solidFill>
                <a:latin typeface="Orbitron"/>
                <a:rFonts ascii="Orbitron" hAnsi="Orbitron" eastAsia="Orbitron" cs="Orbitron"/>
              </a:rPr>
              <a:t>FRAME PROCESSING CONCEPT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57188" y="1396511"/>
            <a:ext cx="304792" cy="21687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61980" y="2076449"/>
            <a:ext cx="1219169" cy="1219200"/>
          </a:xfrm>
          <a:prstGeom prst="roundRect">
            <a:avLst>
              <a:gd name="adj" fmla="val 15623437"/>
            </a:avLst>
          </a:prstGeom>
          <a:solidFill>
            <a:srgbClr val="00D9FF">
              <a:alpha val="15000"/>
            </a:srgbClr>
          </a:solidFill>
          <a:ln w="24765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04872" y="2546638"/>
            <a:ext cx="533386" cy="2788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6773" y="3409950"/>
            <a:ext cx="6095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Camera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99" y="3676649"/>
            <a:ext cx="7429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Capture Input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2752656" y="2837854"/>
            <a:ext cx="380990" cy="26789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914677" y="2076449"/>
            <a:ext cx="1219169" cy="1219200"/>
          </a:xfrm>
          <a:prstGeom prst="roundRect">
            <a:avLst>
              <a:gd name="adj" fmla="val 15623437"/>
            </a:avLst>
          </a:prstGeom>
          <a:solidFill>
            <a:srgbClr val="00D9FF">
              <a:alpha val="15000"/>
            </a:srgbClr>
          </a:solidFill>
          <a:ln w="24765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257568" y="2461779"/>
            <a:ext cx="533386" cy="4485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28994" y="3409950"/>
            <a:ext cx="5714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Frames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697" y="3676649"/>
            <a:ext cx="8000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Extract Frames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905352" y="2837854"/>
            <a:ext cx="380990" cy="26789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057848" y="2076449"/>
            <a:ext cx="1219169" cy="1219200"/>
          </a:xfrm>
          <a:prstGeom prst="roundRect">
            <a:avLst>
              <a:gd name="adj" fmla="val 15623437"/>
            </a:avLst>
          </a:prstGeom>
          <a:solidFill>
            <a:srgbClr val="00D9FF">
              <a:alpha val="15000"/>
            </a:srgbClr>
          </a:solidFill>
          <a:ln w="24765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400739" y="2461779"/>
            <a:ext cx="533386" cy="4485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72165" y="3409950"/>
            <a:ext cx="6000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76918" y="3676649"/>
            <a:ext cx="79055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Analyze Frame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058048" y="2837854"/>
            <a:ext cx="380990" cy="26789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10210544" y="2076449"/>
            <a:ext cx="1219169" cy="1219200"/>
          </a:xfrm>
          <a:prstGeom prst="roundRect">
            <a:avLst>
              <a:gd name="adj" fmla="val 15623437"/>
            </a:avLst>
          </a:prstGeom>
          <a:solidFill>
            <a:srgbClr val="00D9FF">
              <a:alpha val="15000"/>
            </a:srgbClr>
          </a:solidFill>
          <a:ln w="24765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553436" y="2482994"/>
            <a:ext cx="533386" cy="40611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534386" y="3409950"/>
            <a:ext cx="56196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Display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86762" y="3676649"/>
            <a:ext cx="67625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Show Result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188" y="4629150"/>
            <a:ext cx="11277318" cy="1695449"/>
          </a:xfrm>
          <a:prstGeom prst="roundRect">
            <a:avLst>
              <a:gd name="adj" fmla="val 13483"/>
            </a:avLst>
          </a:prstGeom>
          <a:solidFill>
            <a:srgbClr val="00D9FF">
              <a:alpha val="8000"/>
            </a:srgbClr>
          </a:solidFill>
          <a:ln w="8255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95307" y="4883840"/>
            <a:ext cx="266693" cy="214519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971525" y="53149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104872" y="5509177"/>
            <a:ext cx="266693" cy="14494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57248" y="5924549"/>
            <a:ext cx="35241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Camera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1952576" y="5625913"/>
            <a:ext cx="190495" cy="140073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2590735" y="53149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2724081" y="5491783"/>
            <a:ext cx="266693" cy="17973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676458" y="5924549"/>
            <a:ext cx="35241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OpenCV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3571785" y="5625913"/>
            <a:ext cx="190495" cy="140073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4209944" y="53149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4376081" y="5448300"/>
            <a:ext cx="201113" cy="26669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190895" y="5924549"/>
            <a:ext cx="57148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Hand Detect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190995" y="5625913"/>
            <a:ext cx="190495" cy="140073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5829154" y="53149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5962500" y="5477289"/>
            <a:ext cx="266693" cy="208721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857728" y="5924549"/>
            <a:ext cx="47623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Angle Calc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810204" y="5625913"/>
            <a:ext cx="190495" cy="140073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7448363" y="53149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7581710" y="5503379"/>
            <a:ext cx="266693" cy="156541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476938" y="5924549"/>
            <a:ext cx="48576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Servo Map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429414" y="5625913"/>
            <a:ext cx="190495" cy="140073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9067573" y="53149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9200919" y="5477289"/>
            <a:ext cx="266693" cy="208721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162820" y="5924549"/>
            <a:ext cx="35241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Arduino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10048623" y="5625913"/>
            <a:ext cx="190495" cy="140073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10686782" y="53149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00D9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0820129" y="5474390"/>
            <a:ext cx="266693" cy="214519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0820129" y="5924549"/>
            <a:ext cx="27621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Robot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29634" y="6362700"/>
            <a:ext cx="9524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SESSION 1.2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27"/>
            </a:gs>
            <a:gs pos="50000">
              <a:srgbClr val="1A1F3A"/>
            </a:gs>
            <a:gs pos="100000">
              <a:srgbClr val="2D1B4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5210044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00D9FF"/>
                </a:solidFill>
                <a:latin typeface="Orbitron"/>
                <a:rFonts ascii="Orbitron" hAnsi="Orbitron" eastAsia="Orbitron" cs="Orbitron"/>
              </a:rPr>
              <a:t>MEDIAPIPE INTEGRATION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57188" y="1408234"/>
            <a:ext cx="304792" cy="19343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188" y="2000250"/>
            <a:ext cx="3962300" cy="942975"/>
          </a:xfrm>
          <a:prstGeom prst="roundRect">
            <a:avLst>
              <a:gd name="adj" fmla="val 24242"/>
            </a:avLst>
          </a:prstGeom>
          <a:solidFill>
            <a:srgbClr val="00D9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51741" y="2405697"/>
            <a:ext cx="9429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782" y="2190749"/>
            <a:ext cx="3543211" cy="5619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Framework developed by Google for building </a:t>
            </a: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real-time computer vision</a:t>
            </a:r>
            <a:r>
              <a:rPr sz="107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applications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188" y="3162299"/>
            <a:ext cx="39623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19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Key Applications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188" y="3581400"/>
            <a:ext cx="1924001" cy="819149"/>
          </a:xfrm>
          <a:prstGeom prst="roundRect">
            <a:avLst>
              <a:gd name="adj" fmla="val 27906"/>
            </a:avLst>
          </a:prstGeom>
          <a:solidFill>
            <a:srgbClr val="00D9FF">
              <a:alpha val="8000"/>
            </a:srgbClr>
          </a:solidFill>
          <a:ln w="8255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7144" y="3743325"/>
            <a:ext cx="172523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23901" y="3743325"/>
            <a:ext cx="87627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Hand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09" y="4048124"/>
            <a:ext cx="16001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Detect hand landmarks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95487" y="3581400"/>
            <a:ext cx="1924001" cy="819149"/>
          </a:xfrm>
          <a:prstGeom prst="roundRect">
            <a:avLst>
              <a:gd name="adj" fmla="val 27906"/>
            </a:avLst>
          </a:prstGeom>
          <a:solidFill>
            <a:srgbClr val="00D9FF">
              <a:alpha val="8000"/>
            </a:srgbClr>
          </a:solidFill>
          <a:ln w="8255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2657408" y="3760470"/>
            <a:ext cx="228594" cy="1943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962200" y="3743325"/>
            <a:ext cx="9143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Face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7408" y="4048124"/>
            <a:ext cx="16001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Recognize facial features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188" y="4514850"/>
            <a:ext cx="1924001" cy="819149"/>
          </a:xfrm>
          <a:prstGeom prst="roundRect">
            <a:avLst>
              <a:gd name="adj" fmla="val 27906"/>
            </a:avLst>
          </a:prstGeom>
          <a:solidFill>
            <a:srgbClr val="00D9FF">
              <a:alpha val="8000"/>
            </a:srgbClr>
          </a:solidFill>
          <a:ln w="8255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19109" y="4693920"/>
            <a:ext cx="228594" cy="19430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23901" y="4676775"/>
            <a:ext cx="93342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Pose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109" y="4981574"/>
            <a:ext cx="16001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Track body movements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95487" y="4514850"/>
            <a:ext cx="1924001" cy="819149"/>
          </a:xfrm>
          <a:prstGeom prst="roundRect">
            <a:avLst>
              <a:gd name="adj" fmla="val 27906"/>
            </a:avLst>
          </a:prstGeom>
          <a:solidFill>
            <a:srgbClr val="00D9FF">
              <a:alpha val="8000"/>
            </a:srgbClr>
          </a:solidFill>
          <a:ln w="8255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2657408" y="4702492"/>
            <a:ext cx="228594" cy="17716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962200" y="4676775"/>
            <a:ext cx="12572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Gesture Recognition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7408" y="4981574"/>
            <a:ext cx="16001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Identify hand gestures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188" y="5562600"/>
            <a:ext cx="3962300" cy="761999"/>
          </a:xfrm>
          <a:prstGeom prst="roundRect">
            <a:avLst>
              <a:gd name="adj" fmla="val 30000"/>
            </a:avLst>
          </a:prstGeom>
          <a:solidFill>
            <a:srgbClr val="00D9FF">
              <a:alpha val="8000"/>
            </a:srgbClr>
          </a:solidFill>
          <a:ln w="8255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19109" y="5738532"/>
            <a:ext cx="190495" cy="16248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85802" y="5724524"/>
            <a:ext cx="3371765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Works with both </a:t>
            </a:r>
            <a:r>
              <a:rPr sz="837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images and video streams</a:t>
            </a:r>
            <a:r>
              <a:rPr sz="837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 for real-time processing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371413" y="1447800"/>
            <a:ext cx="229698" cy="304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333866" y="1866899"/>
            <a:ext cx="64006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MediaPipe detects 21 hand landmarks for precise tracking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33866" y="2286000"/>
            <a:ext cx="6400639" cy="3333749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333866" y="5810249"/>
            <a:ext cx="2057348" cy="419100"/>
          </a:xfrm>
          <a:prstGeom prst="roundRect">
            <a:avLst>
              <a:gd name="adj" fmla="val 36363"/>
            </a:avLst>
          </a:prstGeom>
          <a:solidFill>
            <a:srgbClr val="00D9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48163" y="5924549"/>
            <a:ext cx="182875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21 Landmarks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05512" y="5810249"/>
            <a:ext cx="2057348" cy="419100"/>
          </a:xfrm>
          <a:prstGeom prst="roundRect">
            <a:avLst>
              <a:gd name="adj" fmla="val 36363"/>
            </a:avLst>
          </a:prstGeom>
          <a:solidFill>
            <a:srgbClr val="00D9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19809" y="5924549"/>
            <a:ext cx="182875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Real-time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77158" y="5810249"/>
            <a:ext cx="2057348" cy="419100"/>
          </a:xfrm>
          <a:prstGeom prst="roundRect">
            <a:avLst>
              <a:gd name="adj" fmla="val 36363"/>
            </a:avLst>
          </a:prstGeom>
          <a:solidFill>
            <a:srgbClr val="00D9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91455" y="5924549"/>
            <a:ext cx="182875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High Accuracy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29634" y="6362700"/>
            <a:ext cx="9524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SESSION 1.2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27"/>
            </a:gs>
            <a:gs pos="50000">
              <a:srgbClr val="1A1F3A"/>
            </a:gs>
            <a:gs pos="100000">
              <a:srgbClr val="2D1B4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5876778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00D9FF"/>
                </a:solidFill>
                <a:latin typeface="Orbitron"/>
                <a:rFonts ascii="Orbitron" hAnsi="Orbitron" eastAsia="Orbitron" cs="Orbitron"/>
              </a:rPr>
              <a:t>COMPLETE PROJECT FLOW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57188" y="2231048"/>
            <a:ext cx="304792" cy="2432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188" y="2619374"/>
            <a:ext cx="396230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End-to-end integration of OpenCV, MediaPipe &amp; Arduino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188" y="3038475"/>
            <a:ext cx="3962300" cy="3047999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188" y="6276975"/>
            <a:ext cx="1247743" cy="704849"/>
          </a:xfrm>
          <a:prstGeom prst="roundRect">
            <a:avLst>
              <a:gd name="adj" fmla="val 21621"/>
            </a:avLst>
          </a:prstGeom>
          <a:solidFill>
            <a:srgbClr val="00D9FF">
              <a:alpha val="8000"/>
            </a:srgbClr>
          </a:solidFill>
          <a:ln w="8255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62000" y="6452234"/>
            <a:ext cx="228594" cy="125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1010" y="6705600"/>
            <a:ext cx="10000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Camera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19229" y="6276975"/>
            <a:ext cx="1247743" cy="704849"/>
          </a:xfrm>
          <a:prstGeom prst="roundRect">
            <a:avLst>
              <a:gd name="adj" fmla="val 21621"/>
            </a:avLst>
          </a:prstGeom>
          <a:solidFill>
            <a:srgbClr val="00D9FF">
              <a:alpha val="8000"/>
            </a:srgbClr>
          </a:solidFill>
          <a:ln w="8255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2352077" y="6400800"/>
            <a:ext cx="172523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43051" y="6705600"/>
            <a:ext cx="10000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MediaPipe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71745" y="6276975"/>
            <a:ext cx="1247743" cy="704849"/>
          </a:xfrm>
          <a:prstGeom prst="roundRect">
            <a:avLst>
              <a:gd name="adj" fmla="val 21621"/>
            </a:avLst>
          </a:prstGeom>
          <a:solidFill>
            <a:srgbClr val="00D9FF">
              <a:alpha val="8000"/>
            </a:srgbClr>
          </a:solidFill>
          <a:ln w="8255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686082" y="6426517"/>
            <a:ext cx="228594" cy="1771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95567" y="6705600"/>
            <a:ext cx="10000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Arduino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333866" y="1295814"/>
            <a:ext cx="266693" cy="208721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791055" y="1762125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00D9FF">
              <a:alpha val="15000"/>
            </a:srgbClr>
          </a:solidFill>
          <a:ln w="1651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943451" y="1984863"/>
            <a:ext cx="304792" cy="16412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76778" y="2447924"/>
            <a:ext cx="42861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Camera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81530" y="2638425"/>
            <a:ext cx="61910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Video Stream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962600" y="2193607"/>
            <a:ext cx="228594" cy="16573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9048523" y="1762125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00D9FF">
              <a:alpha val="15000"/>
            </a:srgbClr>
          </a:solidFill>
          <a:ln w="1651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9200919" y="1967278"/>
            <a:ext cx="304792" cy="19929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143771" y="2447924"/>
            <a:ext cx="41908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OpenCV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0899" y="2638425"/>
            <a:ext cx="68578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Frame Capture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0220069" y="2193607"/>
            <a:ext cx="228594" cy="165734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5791055" y="2905124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00D9FF">
              <a:alpha val="15000"/>
            </a:srgbClr>
          </a:solidFill>
          <a:ln w="1651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980998" y="3057525"/>
            <a:ext cx="229698" cy="304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752956" y="3590924"/>
            <a:ext cx="6667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Hand Detect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81530" y="3781424"/>
            <a:ext cx="62863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21 Landmarks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91055" y="4124324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00D9FF">
              <a:alpha val="15000"/>
            </a:srgbClr>
          </a:solidFill>
          <a:ln w="1651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943451" y="4311894"/>
            <a:ext cx="304792" cy="23446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810104" y="4810124"/>
            <a:ext cx="5619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Angle Calc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81530" y="5000625"/>
            <a:ext cx="61910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Finger Angles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962600" y="4555807"/>
            <a:ext cx="228594" cy="165734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9048523" y="4124324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00D9FF">
              <a:alpha val="15000"/>
            </a:srgbClr>
          </a:solidFill>
          <a:ln w="1651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9200919" y="4338271"/>
            <a:ext cx="304792" cy="18170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058048" y="4810124"/>
            <a:ext cx="57148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Servo Map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91375" y="5000625"/>
            <a:ext cx="70483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0-180° Mapping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0220069" y="4555807"/>
            <a:ext cx="228594" cy="165734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5791055" y="5267324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00D9FF">
              <a:alpha val="15000"/>
            </a:srgbClr>
          </a:solidFill>
          <a:ln w="1651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5943451" y="5454894"/>
            <a:ext cx="304792" cy="234461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876778" y="5953124"/>
            <a:ext cx="41908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Arduino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91055" y="6143625"/>
            <a:ext cx="59053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PWM Control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33866" y="6486525"/>
            <a:ext cx="3124121" cy="1428750"/>
          </a:xfrm>
          <a:prstGeom prst="roundRect">
            <a:avLst>
              <a:gd name="adj" fmla="val 16000"/>
            </a:avLst>
          </a:prstGeom>
          <a:solidFill>
            <a:srgbClr val="00D9FF">
              <a:alpha val="8000"/>
            </a:srgbClr>
          </a:solidFill>
          <a:ln w="8255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5533886" y="6722745"/>
            <a:ext cx="228594" cy="19430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838679" y="6686550"/>
            <a:ext cx="128584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Technologies Used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33886" y="7067549"/>
            <a:ext cx="2724081" cy="1904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Rajdhani"/>
                <a:rFonts ascii="Rajdhani" hAnsi="Rajdhani" eastAsia="Rajdhani" cs="Rajdhani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000000"/>
                </a:solidFill>
                <a:latin typeface="Rajdhani"/>
                <a:rFonts ascii="Rajdhani" hAnsi="Rajdhani" eastAsia="Rajdhani" cs="Rajdhani"/>
              </a:rPr>
              <a:t> </a:t>
            </a:r>
            <a:r>
              <a:rPr sz="837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Python + OpenCV</a:t>
            </a:r>
            <a:r>
              <a:rPr sz="956" b="0">
                <a:solidFill>
                  <a:srgbClr val="000000"/>
                </a:solidFill>
                <a:latin typeface="Rajdhani"/>
                <a:rFonts ascii="Rajdhani" hAnsi="Rajdhani" eastAsia="Rajdhani" cs="Rajdhani"/>
              </a:rPr>
              <a:t> 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5533886" y="7112126"/>
            <a:ext cx="133346" cy="10134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533886" y="7296149"/>
            <a:ext cx="2724081" cy="1904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Rajdhani"/>
                <a:rFonts ascii="Rajdhani" hAnsi="Rajdhani" eastAsia="Rajdhani" cs="Rajdhani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000000"/>
                </a:solidFill>
                <a:latin typeface="Rajdhani"/>
                <a:rFonts ascii="Rajdhani" hAnsi="Rajdhani" eastAsia="Rajdhani" cs="Rajdhani"/>
              </a:rPr>
              <a:t> </a:t>
            </a:r>
            <a:r>
              <a:rPr sz="837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MediaPipe Hand Tracking</a:t>
            </a:r>
            <a:r>
              <a:rPr sz="956" b="0">
                <a:solidFill>
                  <a:srgbClr val="000000"/>
                </a:solidFill>
                <a:latin typeface="Rajdhani"/>
                <a:rFonts ascii="Rajdhani" hAnsi="Rajdhani" eastAsia="Rajdhani" cs="Rajdhani"/>
              </a:rPr>
              <a:t> 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5533886" y="7340726"/>
            <a:ext cx="133346" cy="101346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533886" y="7524749"/>
            <a:ext cx="2724081" cy="1904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Rajdhani"/>
                <a:rFonts ascii="Rajdhani" hAnsi="Rajdhani" eastAsia="Rajdhani" cs="Rajdhani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000000"/>
                </a:solidFill>
                <a:latin typeface="Rajdhani"/>
                <a:rFonts ascii="Rajdhani" hAnsi="Rajdhani" eastAsia="Rajdhani" cs="Rajdhani"/>
              </a:rPr>
              <a:t> </a:t>
            </a:r>
            <a:r>
              <a:rPr sz="837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Arduino + Servo Motors</a:t>
            </a:r>
            <a:r>
              <a:rPr sz="956" b="0">
                <a:solidFill>
                  <a:srgbClr val="000000"/>
                </a:solidFill>
                <a:latin typeface="Rajdhani"/>
                <a:rFonts ascii="Rajdhani" hAnsi="Rajdhani" eastAsia="Rajdhani" cs="Rajdhani"/>
              </a:rPr>
              <a:t> 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5533886" y="7569326"/>
            <a:ext cx="133346" cy="101346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8610384" y="6486525"/>
            <a:ext cx="3124121" cy="1428750"/>
          </a:xfrm>
          <a:prstGeom prst="roundRect">
            <a:avLst>
              <a:gd name="adj" fmla="val 16000"/>
            </a:avLst>
          </a:prstGeom>
          <a:solidFill>
            <a:srgbClr val="00D9FF">
              <a:alpha val="8000"/>
            </a:srgbClr>
          </a:solidFill>
          <a:ln w="8255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8810404" y="6724173"/>
            <a:ext cx="228594" cy="19145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9115197" y="6686550"/>
            <a:ext cx="11524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Project Outcome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10404" y="7067549"/>
            <a:ext cx="2724081" cy="1904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Rajdhani"/>
                <a:rFonts ascii="Rajdhani" hAnsi="Rajdhani" eastAsia="Rajdhani" cs="Rajdhani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000000"/>
                </a:solidFill>
                <a:latin typeface="Rajdhani"/>
                <a:rFonts ascii="Rajdhani" hAnsi="Rajdhani" eastAsia="Rajdhani" cs="Rajdhani"/>
              </a:rPr>
              <a:t> </a:t>
            </a:r>
            <a:r>
              <a:rPr sz="837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Real-time Hand Tracking</a:t>
            </a:r>
            <a:r>
              <a:rPr sz="956" b="0">
                <a:solidFill>
                  <a:srgbClr val="000000"/>
                </a:solidFill>
                <a:latin typeface="Rajdhani"/>
                <a:rFonts ascii="Rajdhani" hAnsi="Rajdhani" eastAsia="Rajdhani" cs="Rajdhani"/>
              </a:rPr>
              <a:t> 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8810404" y="7112126"/>
            <a:ext cx="133346" cy="101346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8810404" y="7296149"/>
            <a:ext cx="2724081" cy="1904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Rajdhani"/>
                <a:rFonts ascii="Rajdhani" hAnsi="Rajdhani" eastAsia="Rajdhani" cs="Rajdhani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000000"/>
                </a:solidFill>
                <a:latin typeface="Rajdhani"/>
                <a:rFonts ascii="Rajdhani" hAnsi="Rajdhani" eastAsia="Rajdhani" cs="Rajdhani"/>
              </a:rPr>
              <a:t> </a:t>
            </a:r>
            <a:r>
              <a:rPr sz="837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Gesture-Controlled Robot</a:t>
            </a:r>
            <a:r>
              <a:rPr sz="956" b="0">
                <a:solidFill>
                  <a:srgbClr val="000000"/>
                </a:solidFill>
                <a:latin typeface="Rajdhani"/>
                <a:rFonts ascii="Rajdhani" hAnsi="Rajdhani" eastAsia="Rajdhani" cs="Rajdhani"/>
              </a:rPr>
              <a:t> 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8810404" y="7340726"/>
            <a:ext cx="133346" cy="101346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8810404" y="7524749"/>
            <a:ext cx="2724081" cy="1904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Rajdhani"/>
                <a:rFonts ascii="Rajdhani" hAnsi="Rajdhani" eastAsia="Rajdhani" cs="Rajdhani"/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000000"/>
                </a:solidFill>
                <a:latin typeface="Rajdhani"/>
                <a:rFonts ascii="Rajdhani" hAnsi="Rajdhani" eastAsia="Rajdhani" cs="Rajdhani"/>
              </a:rPr>
              <a:t> </a:t>
            </a:r>
            <a:r>
              <a:rPr sz="837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Interactive System</a:t>
            </a:r>
            <a:r>
              <a:rPr sz="956" b="0">
                <a:solidFill>
                  <a:srgbClr val="000000"/>
                </a:solidFill>
                <a:latin typeface="Rajdhani"/>
                <a:rFonts ascii="Rajdhani" hAnsi="Rajdhani" eastAsia="Rajdhani" cs="Rajdhani"/>
              </a:rPr>
              <a:t> 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8810404" y="7569326"/>
            <a:ext cx="133346" cy="101346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0629634" y="7877174"/>
            <a:ext cx="9524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SESSION 1.2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27"/>
            </a:gs>
            <a:gs pos="50000">
              <a:srgbClr val="1A1F3A"/>
            </a:gs>
            <a:gs pos="100000">
              <a:srgbClr val="2D1B4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D9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D9FF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5524361" y="282126"/>
            <a:ext cx="1142971" cy="6739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43171" y="1724024"/>
            <a:ext cx="5914877" cy="11430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7800"/>
              </a:lnSpc>
              <a:spcBef>
                <a:spcPts val="0"/>
              </a:spcBef>
              <a:spcAft>
                <a:spcPts val="1560"/>
              </a:spcAft>
            </a:pPr>
            <a:r>
              <a:rPr sz="4784" b="1">
                <a:solidFill>
                  <a:srgbClr val="00D9FF"/>
                </a:solidFill>
                <a:latin typeface="Orbitron"/>
                <a:rFonts ascii="Orbitron" hAnsi="Orbitron" eastAsia="Orbitron" cs="Orbitron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7093" y="3095625"/>
            <a:ext cx="3657508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D9FF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48143" y="3438525"/>
            <a:ext cx="1685882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3120"/>
              </a:spcAft>
            </a:pPr>
            <a:r>
              <a:rPr sz="2152" b="0">
                <a:solidFill>
                  <a:srgbClr val="E0E7FF"/>
                </a:solidFill>
                <a:latin typeface="Rajdhani"/>
                <a:rFonts ascii="Rajdhani" hAnsi="Rajdhani" eastAsia="Rajdhani" cs="Rajdhani"/>
              </a:rPr>
              <a:t>Questions?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7113" y="4276725"/>
            <a:ext cx="761980" cy="761999"/>
          </a:xfrm>
          <a:prstGeom prst="roundRect">
            <a:avLst>
              <a:gd name="adj" fmla="val 24997500"/>
            </a:avLst>
          </a:prstGeom>
          <a:solidFill>
            <a:srgbClr val="00D9FF">
              <a:alpha val="15000"/>
            </a:srgbClr>
          </a:solidFill>
          <a:ln w="1651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657608" y="4556521"/>
            <a:ext cx="380990" cy="20240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81410" y="5191125"/>
            <a:ext cx="53338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OpenCV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1390" y="5457825"/>
            <a:ext cx="94295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Image Processing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4857" y="4276725"/>
            <a:ext cx="761980" cy="761999"/>
          </a:xfrm>
          <a:prstGeom prst="roundRect">
            <a:avLst>
              <a:gd name="adj" fmla="val 24997500"/>
            </a:avLst>
          </a:prstGeom>
          <a:solidFill>
            <a:srgbClr val="00D9FF">
              <a:alpha val="15000"/>
            </a:srgbClr>
          </a:solidFill>
          <a:ln w="1651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952415" y="4467224"/>
            <a:ext cx="286863" cy="38099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33906" y="5191125"/>
            <a:ext cx="7238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MediaPipe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24381" y="5457825"/>
            <a:ext cx="75245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Hand Tracking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62600" y="4276725"/>
            <a:ext cx="761980" cy="761999"/>
          </a:xfrm>
          <a:prstGeom prst="roundRect">
            <a:avLst>
              <a:gd name="adj" fmla="val 24997500"/>
            </a:avLst>
          </a:prstGeom>
          <a:solidFill>
            <a:srgbClr val="00D9FF">
              <a:alpha val="15000"/>
            </a:srgbClr>
          </a:solidFill>
          <a:ln w="1651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153096" y="4505920"/>
            <a:ext cx="380990" cy="30360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67373" y="5191125"/>
            <a:ext cx="54291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Arduino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2125" y="5457825"/>
            <a:ext cx="7429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B9DC3"/>
                </a:solidFill>
                <a:latin typeface="Rajdhani"/>
                <a:rFonts ascii="Rajdhani" hAnsi="Rajdhani" eastAsia="Rajdhani" cs="Rajdhani"/>
              </a:rPr>
              <a:t>Robot Control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86062" y="6105525"/>
            <a:ext cx="5229094" cy="704849"/>
          </a:xfrm>
          <a:prstGeom prst="roundRect">
            <a:avLst>
              <a:gd name="adj" fmla="val 32432"/>
            </a:avLst>
          </a:prstGeom>
          <a:solidFill>
            <a:srgbClr val="00D9FF">
              <a:alpha val="8000"/>
            </a:srgbClr>
          </a:solidFill>
          <a:ln w="8255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724181" y="6387913"/>
            <a:ext cx="190495" cy="14007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990875" y="6343650"/>
            <a:ext cx="201924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By - Ansik Singh Tomar (Aanshik)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5392" y="6343650"/>
            <a:ext cx="9524" cy="228600"/>
          </a:xfrm>
          <a:prstGeom prst="rect">
            <a:avLst/>
          </a:prstGeom>
          <a:solidFill>
            <a:srgbClr val="00D9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619709" y="6404722"/>
            <a:ext cx="190495" cy="10645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886402" y="6343650"/>
            <a:ext cx="15811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8C5D6"/>
                </a:solidFill>
                <a:latin typeface="Rajdhani"/>
                <a:rFonts ascii="Rajdhani" hAnsi="Rajdhani" eastAsia="Rajdhani" cs="Rajdhani"/>
              </a:rPr>
              <a:t>Coordinator - Technocrats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67253" y="63245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00D9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57748" y="63245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00D9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48243" y="63245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00D9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34426" y="304800"/>
            <a:ext cx="9524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D9FF"/>
                </a:solidFill>
                <a:latin typeface="Roboto Mono"/>
                <a:rFonts ascii="Roboto Mono" hAnsi="Roboto Mono" eastAsia="Roboto Mono" cs="Roboto Mono"/>
              </a:rPr>
              <a:t>SESSION 1.2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